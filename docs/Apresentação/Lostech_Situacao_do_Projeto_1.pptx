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D4E6"/>
    <a:srgbClr val="F9A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C9194-51BC-4F3E-8FF7-31B44D9226E6}" v="97" dt="2023-06-09T18:50:01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D399-AF62-AF25-3B64-43596AD76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C2FE5-999E-EA1E-00A5-5B3C2E99C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F240D-4B32-C7D0-10F0-4608DFEE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05DFD-5DCF-CC88-A336-B1E80A37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910F-5D65-8F87-6118-89A7CCD2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7C13-C781-89CD-1D6D-5ACB35C4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60B21-D039-CB63-F785-63051DED2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EE842-92B5-BFD6-B380-0EBD1CB1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1EDFA-05C1-D768-5011-4D07C599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E3C14-4F30-83A6-B4F5-AA630859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16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2B90-72EC-88EF-8D86-8C6C8121D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49E09-E1AD-BD23-5EA0-11B5690A6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16D1-B254-7CF5-5915-06A0EA74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C763E-34DA-33A4-DD19-A130CD2C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ED90-423C-10B7-32DC-551A9E99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2037-FF4A-1A39-7469-64612153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BEA1-C768-C44B-C44E-BDF4DCDE4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61494-334B-6A91-9495-F929E1445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7C654-9ED6-13C6-BBEE-1A0EA647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7CA07-4663-7904-7AD6-6E34D68A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D7163-001D-73EC-0912-49986651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E804-DC0E-8A43-71A0-0641CF2E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CA54D-ED6A-EA6D-4802-195D98C8F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C25BC-49E7-22A6-7D88-7EBE20261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A8222-948F-32C0-A5D6-390042DEC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9466D-35A5-16CD-3BB0-27D1A77A3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93B6D-4EB4-4B84-6A49-99F5EBB9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22F4F-1DC5-B885-DB17-869F0D616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C81C5-9C95-3C03-2BCB-E354A6C6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2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7D69-8787-9D0E-B4C9-C9194F86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2594B-8983-7157-95A1-EBC5B46B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E79C2-1481-511A-CF86-2C311125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25563-DACC-D171-360D-6AAF31FB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7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DC1FA-90B6-E20E-E108-FB9ED847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AEF04-89A3-C381-0449-B5C6633E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B8027-CC90-FD03-E1A6-4E75A52E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9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B268-4F06-5672-B901-75FD268E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B7C3-1993-698D-0918-EB4AFA828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B5974-6673-EB96-BD5C-16260A833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11977-EE80-F7A0-5825-E5424AD0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CD442-C40E-5C2C-1FF3-CE0B8460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16552-0A6D-2714-2C31-34A6ACFF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1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57BA-3FFA-7951-EB95-F540C63C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FF92B-D9F1-92B9-8B88-093CDFEF4C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9E514-E844-F1C9-3477-E25B268AC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6072E-328E-4613-8969-6EE194A5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6984C-9D96-3693-E80F-861B1E0E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FF78B-0A76-3371-B9EB-086BD5CC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1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032B-EFB0-DD92-B226-AAD8FD4E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B8A65-4929-637A-92D1-3BAAB1031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9235-0E74-584D-1B1B-7D499B4D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D56DF-35AA-C1A6-79A3-FFB84771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88F19-BF44-55F9-AEAF-E65F6FB7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3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7F0A9-9085-BD77-D30C-3BE60E08E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C4180-1B65-C5A2-C2F1-CEBAE2277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A087-7199-085C-D0DD-B7D3D89F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4E592-F586-B6FE-3D10-EEB08059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BAA48-FA9A-41D5-E7D7-E2925FA9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5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DDF5F-6B7B-E8DC-742E-F94D4B71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AB0ED-2DA2-58E8-BDCF-2EE5569BD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C0806-D8E3-A66E-FDC7-EED2E4B22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CAA1B-2AD2-4F78-AF3E-DB62FE4FE79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F554C-6BE5-1524-8F65-7DCFF2CD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5F0F1-9C44-CC46-8BC8-8372F09A4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111C2-72E3-481D-A150-8027CA739B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9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5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3.png"/><Relationship Id="rId5" Type="http://schemas.openxmlformats.org/officeDocument/2006/relationships/image" Target="../media/image4.jpg"/><Relationship Id="rId10" Type="http://schemas.openxmlformats.org/officeDocument/2006/relationships/image" Target="../media/image12.jpg"/><Relationship Id="rId4" Type="http://schemas.openxmlformats.org/officeDocument/2006/relationships/image" Target="../media/image3.jp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6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4.png"/><Relationship Id="rId5" Type="http://schemas.openxmlformats.org/officeDocument/2006/relationships/image" Target="../media/image4.jpg"/><Relationship Id="rId10" Type="http://schemas.openxmlformats.org/officeDocument/2006/relationships/image" Target="../media/image13.png"/><Relationship Id="rId4" Type="http://schemas.openxmlformats.org/officeDocument/2006/relationships/image" Target="../media/image3.jpg"/><Relationship Id="rId9" Type="http://schemas.openxmlformats.org/officeDocument/2006/relationships/image" Target="../media/image12.jp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9.png"/><Relationship Id="rId5" Type="http://schemas.openxmlformats.org/officeDocument/2006/relationships/image" Target="../media/image4.jpg"/><Relationship Id="rId10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20.png"/><Relationship Id="rId5" Type="http://schemas.openxmlformats.org/officeDocument/2006/relationships/image" Target="../media/image4.jpg"/><Relationship Id="rId10" Type="http://schemas.openxmlformats.org/officeDocument/2006/relationships/image" Target="../media/image19.png"/><Relationship Id="rId4" Type="http://schemas.openxmlformats.org/officeDocument/2006/relationships/image" Target="../media/image3.jp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AA5845-2955-F49B-99C0-C834DF507429}"/>
              </a:ext>
            </a:extLst>
          </p:cNvPr>
          <p:cNvCxnSpPr>
            <a:cxnSpLocks/>
          </p:cNvCxnSpPr>
          <p:nvPr/>
        </p:nvCxnSpPr>
        <p:spPr>
          <a:xfrm>
            <a:off x="2680402" y="3468069"/>
            <a:ext cx="9511598" cy="0"/>
          </a:xfrm>
          <a:prstGeom prst="line">
            <a:avLst/>
          </a:prstGeom>
          <a:ln w="76200">
            <a:solidFill>
              <a:srgbClr val="A2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12540976">
            <a:off x="-1266030" y="1769280"/>
            <a:ext cx="874912" cy="186962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15745348">
            <a:off x="-17912" y="826766"/>
            <a:ext cx="886132" cy="1880822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18956927">
            <a:off x="1471026" y="1182445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626420">
            <a:off x="2079891" y="2593584"/>
            <a:ext cx="988046" cy="1861085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3842255">
            <a:off x="1408798" y="3989718"/>
            <a:ext cx="1040921" cy="1848259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6425747">
            <a:off x="-89460" y="4335848"/>
            <a:ext cx="931683" cy="1883012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10098776">
            <a:off x="-1337842" y="3402947"/>
            <a:ext cx="1049351" cy="1838435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1" y="3213483"/>
            <a:ext cx="22028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</p:txBody>
      </p:sp>
      <p:sp>
        <p:nvSpPr>
          <p:cNvPr id="901" name="Texto 901"/>
          <p:cNvSpPr txBox="1"/>
          <p:nvPr/>
        </p:nvSpPr>
        <p:spPr>
          <a:xfrm>
            <a:off x="4297680" y="148132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spc="150" dirty="0">
                <a:solidFill>
                  <a:srgbClr val="FF2E97"/>
                </a:solidFill>
                <a:latin typeface="Montserrat"/>
                <a:cs typeface="Montserrat"/>
              </a:rPr>
              <a:t>LOSTECH  ·  LUMEN  ·  SITUAÇÃO DO PROJETO  ·  OUT/2026</a:t>
            </a:r>
          </a:p>
        </p:txBody>
      </p:sp>
      <p:sp>
        <p:nvSpPr>
          <p:cNvPr id="902" name="!!Titulo"/>
          <p:cNvSpPr txBox="1"/>
          <p:nvPr/>
        </p:nvSpPr>
        <p:spPr>
          <a:xfrm>
            <a:off x="4297680" y="1810512"/>
            <a:ext cx="7589520" cy="148132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 b="1" dirty="0">
                <a:solidFill>
                  <a:srgbClr val="F5F0FF"/>
                </a:solidFill>
                <a:latin typeface="Montserrat"/>
                <a:cs typeface="Montserrat"/>
              </a:rPr>
              <a:t>INTRODUÇÃO</a:t>
            </a:r>
          </a:p>
        </p:txBody>
      </p:sp>
      <p:sp>
        <p:nvSpPr>
          <p:cNvPr id="903" name="Forma 903"/>
          <p:cNvSpPr/>
          <p:nvPr/>
        </p:nvSpPr>
        <p:spPr>
          <a:xfrm>
            <a:off x="4297680" y="3767328"/>
            <a:ext cx="512064" cy="512064"/>
          </a:xfrm>
          <a:prstGeom prst="ellipse">
            <a:avLst/>
          </a:prstGeom>
          <a:solidFill>
            <a:srgbClr val="A259FF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4" name="Ícone BsTool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2894" y="3882542"/>
            <a:ext cx="281635" cy="281635"/>
          </a:xfrm>
          <a:prstGeom prst="rect">
            <a:avLst/>
          </a:prstGeom>
        </p:spPr>
      </p:pic>
      <p:sp>
        <p:nvSpPr>
          <p:cNvPr id="905" name="Texto 905"/>
          <p:cNvSpPr txBox="1"/>
          <p:nvPr/>
        </p:nvSpPr>
        <p:spPr>
          <a:xfrm>
            <a:off x="4297680" y="4425696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  <a:endParaRPr lang="pt-BR" sz="15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6" name="Texto 906"/>
          <p:cNvSpPr txBox="1"/>
          <p:nvPr/>
        </p:nvSpPr>
        <p:spPr>
          <a:xfrm>
            <a:off x="4297680" y="47731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BDB0D6"/>
                </a:solidFill>
                <a:latin typeface="Montserrat"/>
                <a:cs typeface="Montserrat"/>
              </a:rPr>
              <a:t>Empresa real de suporte, manutenção e montagem de computadores em Itapevi, Cotia, Barueri e Jandira.</a:t>
            </a:r>
          </a:p>
        </p:txBody>
      </p:sp>
      <p:sp>
        <p:nvSpPr>
          <p:cNvPr id="907" name="Forma 907"/>
          <p:cNvSpPr/>
          <p:nvPr/>
        </p:nvSpPr>
        <p:spPr>
          <a:xfrm>
            <a:off x="6830568" y="3767328"/>
            <a:ext cx="512064" cy="512064"/>
          </a:xfrm>
          <a:prstGeom prst="ellipse">
            <a:avLst/>
          </a:prstGeom>
          <a:solidFill>
            <a:srgbClr val="A259FF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8" name="Ícone BsStar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5782" y="3882542"/>
            <a:ext cx="281635" cy="281635"/>
          </a:xfrm>
          <a:prstGeom prst="rect">
            <a:avLst/>
          </a:prstGeom>
        </p:spPr>
      </p:pic>
      <p:sp>
        <p:nvSpPr>
          <p:cNvPr id="909" name="Texto 909"/>
          <p:cNvSpPr txBox="1"/>
          <p:nvPr/>
        </p:nvSpPr>
        <p:spPr>
          <a:xfrm>
            <a:off x="6830568" y="4425696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F5F0FF"/>
                </a:solidFill>
                <a:latin typeface="Montserrat"/>
                <a:cs typeface="Montserrat"/>
              </a:rPr>
              <a:t>LUMEN</a:t>
            </a:r>
          </a:p>
        </p:txBody>
      </p:sp>
      <p:sp>
        <p:nvSpPr>
          <p:cNvPr id="910" name="Texto 910"/>
          <p:cNvSpPr txBox="1"/>
          <p:nvPr/>
        </p:nvSpPr>
        <p:spPr>
          <a:xfrm>
            <a:off x="6830568" y="47731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BDB0D6"/>
                </a:solidFill>
                <a:latin typeface="Montserrat"/>
                <a:cs typeface="Montserrat"/>
              </a:rPr>
              <a:t>Sistema que analisa os requisitos da LOSTECH, indica o melhor equipamento e aponta quando comprar.</a:t>
            </a:r>
          </a:p>
        </p:txBody>
      </p:sp>
      <p:sp>
        <p:nvSpPr>
          <p:cNvPr id="911" name="Forma 911"/>
          <p:cNvSpPr/>
          <p:nvPr/>
        </p:nvSpPr>
        <p:spPr>
          <a:xfrm>
            <a:off x="9363456" y="3767328"/>
            <a:ext cx="512064" cy="512064"/>
          </a:xfrm>
          <a:prstGeom prst="ellipse">
            <a:avLst/>
          </a:prstGeom>
          <a:solidFill>
            <a:srgbClr val="FF2E97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2" name="Ícone BsDiagram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8670" y="3882542"/>
            <a:ext cx="281635" cy="281635"/>
          </a:xfrm>
          <a:prstGeom prst="rect">
            <a:avLst/>
          </a:prstGeom>
        </p:spPr>
      </p:pic>
      <p:sp>
        <p:nvSpPr>
          <p:cNvPr id="913" name="Texto 913"/>
          <p:cNvSpPr txBox="1"/>
          <p:nvPr/>
        </p:nvSpPr>
        <p:spPr>
          <a:xfrm>
            <a:off x="9363456" y="4425696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F5F0FF"/>
                </a:solidFill>
                <a:latin typeface="Montserrat"/>
                <a:cs typeface="Montserrat"/>
              </a:rPr>
              <a:t>Foco de hoje</a:t>
            </a:r>
          </a:p>
        </p:txBody>
      </p:sp>
      <p:sp>
        <p:nvSpPr>
          <p:cNvPr id="914" name="Texto 914"/>
          <p:cNvSpPr txBox="1"/>
          <p:nvPr/>
        </p:nvSpPr>
        <p:spPr>
          <a:xfrm>
            <a:off x="9363456" y="4773168"/>
            <a:ext cx="233172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BDB0D6"/>
                </a:solidFill>
                <a:latin typeface="Montserrat"/>
                <a:cs typeface="Montserrat"/>
              </a:rPr>
              <a:t>Atualização relacional: catálogo técnico de hardware em PostgreSQL integrado ao LUMEN.</a:t>
            </a:r>
          </a:p>
        </p:txBody>
      </p:sp>
      <p:grpSp>
        <p:nvGrpSpPr>
          <p:cNvPr id="926" name="!!Faixa2"/>
          <p:cNvGrpSpPr/>
          <p:nvPr/>
        </p:nvGrpSpPr>
        <p:grpSpPr>
          <a:xfrm>
            <a:off x="4343400" y="9646920"/>
            <a:ext cx="7388352" cy="3383280"/>
            <a:chOff x="4343400" y="2606040"/>
            <a:chExt cx="7388352" cy="3383280"/>
          </a:xfrm>
        </p:grpSpPr>
        <p:cxnSp>
          <p:nvCxnSpPr>
            <p:cNvPr id="915" name="Conector 915"/>
            <p:cNvCxnSpPr/>
            <p:nvPr/>
          </p:nvCxnSpPr>
          <p:spPr>
            <a:xfrm>
              <a:off x="5047488" y="2743200"/>
              <a:ext cx="5980176" cy="0"/>
            </a:xfrm>
            <a:prstGeom prst="line">
              <a:avLst/>
            </a:prstGeom>
            <a:ln w="25400">
              <a:solidFill>
                <a:srgbClr val="3A2A5C"/>
              </a:solidFill>
            </a:ln>
          </p:spPr>
        </p:cxnSp>
        <p:sp>
          <p:nvSpPr>
            <p:cNvPr id="916" name="Forma 916"/>
            <p:cNvSpPr/>
            <p:nvPr/>
          </p:nvSpPr>
          <p:spPr>
            <a:xfrm>
              <a:off x="4910328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orma 917"/>
            <p:cNvSpPr/>
            <p:nvPr/>
          </p:nvSpPr>
          <p:spPr>
            <a:xfrm>
              <a:off x="4343400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14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Planilha LostTech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Modelo de ERP e estoque: 33 abas, 26.107 fórmulas.</a:t>
              </a:r>
            </a:p>
          </p:txBody>
        </p:sp>
        <p:sp>
          <p:nvSpPr>
            <p:cNvPr id="918" name="Forma 918"/>
            <p:cNvSpPr/>
            <p:nvPr/>
          </p:nvSpPr>
          <p:spPr>
            <a:xfrm>
              <a:off x="6405372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orma 919"/>
            <p:cNvSpPr/>
            <p:nvPr/>
          </p:nvSpPr>
          <p:spPr>
            <a:xfrm>
              <a:off x="5838444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17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Plano geral da LOSTTECH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Auditoria, fases −1 a 14 e MVP: OS, estoque e caixa.</a:t>
              </a:r>
            </a:p>
          </p:txBody>
        </p:sp>
        <p:sp>
          <p:nvSpPr>
            <p:cNvPr id="920" name="Forma 920"/>
            <p:cNvSpPr/>
            <p:nvPr/>
          </p:nvSpPr>
          <p:spPr>
            <a:xfrm>
              <a:off x="7900416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orma 921"/>
            <p:cNvSpPr/>
            <p:nvPr/>
          </p:nvSpPr>
          <p:spPr>
            <a:xfrm>
              <a:off x="7333488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23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Auditoria do LUMEN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Diagnóstico da versão 1.0.35 e arquitetura comercial.</a:t>
              </a:r>
            </a:p>
          </p:txBody>
        </p:sp>
        <p:sp>
          <p:nvSpPr>
            <p:cNvPr id="922" name="Forma 922"/>
            <p:cNvSpPr/>
            <p:nvPr/>
          </p:nvSpPr>
          <p:spPr>
            <a:xfrm>
              <a:off x="9395460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orma 923"/>
            <p:cNvSpPr/>
            <p:nvPr/>
          </p:nvSpPr>
          <p:spPr>
            <a:xfrm>
              <a:off x="8828532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27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Fase 0 concluída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Git, backup e correção das duas falhas críticas.</a:t>
              </a:r>
            </a:p>
          </p:txBody>
        </p:sp>
        <p:sp>
          <p:nvSpPr>
            <p:cNvPr id="924" name="Forma 924"/>
            <p:cNvSpPr/>
            <p:nvPr/>
          </p:nvSpPr>
          <p:spPr>
            <a:xfrm>
              <a:off x="10890504" y="2606040"/>
              <a:ext cx="274320" cy="274320"/>
            </a:xfrm>
            <a:prstGeom prst="ellipse">
              <a:avLst/>
            </a:prstGeom>
            <a:solidFill>
              <a:srgbClr val="FF2E97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orma 925"/>
            <p:cNvSpPr/>
            <p:nvPr/>
          </p:nvSpPr>
          <p:spPr>
            <a:xfrm>
              <a:off x="10323576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221639"/>
            </a:solidFill>
            <a:ln w="15875">
              <a:solidFill>
                <a:srgbClr val="FF2E97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FF2E97"/>
                  </a:solidFill>
                  <a:latin typeface="Montserrat"/>
                  <a:cs typeface="Montserrat"/>
                </a:rPr>
                <a:t>20 out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Catálogo · Etapa 1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Requisitos fechados e 9 decisões registradas.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11233813">
            <a:off x="-1426661" y="2452045"/>
            <a:ext cx="874912" cy="186962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14438185">
            <a:off x="-615817" y="1111138"/>
            <a:ext cx="886132" cy="1880822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17649764">
            <a:off x="896352" y="882340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20919257">
            <a:off x="2426808" y="1351835"/>
            <a:ext cx="1383264" cy="2605519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2535092">
            <a:off x="1871325" y="3491107"/>
            <a:ext cx="1040921" cy="1848259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5118584">
            <a:off x="618892" y="4387612"/>
            <a:ext cx="931683" cy="1883012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8791613">
            <a:off x="-899039" y="3964425"/>
            <a:ext cx="1049351" cy="1838435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2" y="3213483"/>
            <a:ext cx="2202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  <a:p>
            <a:pPr algn="ctr"/>
            <a:endParaRPr lang="pt-BR" sz="32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1" name="!!Titulo"/>
          <p:cNvSpPr txBox="1"/>
          <p:nvPr/>
        </p:nvSpPr>
        <p:spPr>
          <a:xfrm>
            <a:off x="4343400" y="347472"/>
            <a:ext cx="7388352" cy="1207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5F0FF"/>
                </a:solidFill>
                <a:latin typeface="Montserrat"/>
                <a:cs typeface="Montserrat"/>
              </a:rPr>
              <a:t>DESENVOLVIMENTO</a:t>
            </a:r>
          </a:p>
        </p:txBody>
      </p:sp>
      <p:sp>
        <p:nvSpPr>
          <p:cNvPr id="902" name="!!Texto"/>
          <p:cNvSpPr txBox="1"/>
          <p:nvPr/>
        </p:nvSpPr>
        <p:spPr>
          <a:xfrm>
            <a:off x="4343400" y="1645920"/>
            <a:ext cx="7022592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BDB0D6"/>
                </a:solidFill>
                <a:latin typeface="Montserrat"/>
                <a:cs typeface="Montserrat"/>
              </a:rPr>
              <a:t>Da planilha ao catálogo relacional: cinco marcos entre setembro e outubro de 2026.</a:t>
            </a:r>
          </a:p>
        </p:txBody>
      </p:sp>
      <p:grpSp>
        <p:nvGrpSpPr>
          <p:cNvPr id="914" name="!!Faixa2"/>
          <p:cNvGrpSpPr/>
          <p:nvPr/>
        </p:nvGrpSpPr>
        <p:grpSpPr>
          <a:xfrm>
            <a:off x="4343400" y="2606040"/>
            <a:ext cx="7388352" cy="3383280"/>
            <a:chOff x="4343400" y="2606040"/>
            <a:chExt cx="7388352" cy="3383280"/>
          </a:xfrm>
        </p:grpSpPr>
        <p:cxnSp>
          <p:nvCxnSpPr>
            <p:cNvPr id="903" name="Conector 903"/>
            <p:cNvCxnSpPr/>
            <p:nvPr/>
          </p:nvCxnSpPr>
          <p:spPr>
            <a:xfrm>
              <a:off x="5047488" y="2743200"/>
              <a:ext cx="5980176" cy="0"/>
            </a:xfrm>
            <a:prstGeom prst="line">
              <a:avLst/>
            </a:prstGeom>
            <a:ln w="25400">
              <a:solidFill>
                <a:srgbClr val="3A2A5C"/>
              </a:solidFill>
            </a:ln>
          </p:spPr>
        </p:cxnSp>
        <p:sp>
          <p:nvSpPr>
            <p:cNvPr id="904" name="Forma 904"/>
            <p:cNvSpPr/>
            <p:nvPr/>
          </p:nvSpPr>
          <p:spPr>
            <a:xfrm>
              <a:off x="4910328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orma 905"/>
            <p:cNvSpPr/>
            <p:nvPr/>
          </p:nvSpPr>
          <p:spPr>
            <a:xfrm>
              <a:off x="4343400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14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Planilha LostTech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Modelo de ERP e estoque: 33 abas, 26.107 fórmulas.</a:t>
              </a:r>
            </a:p>
          </p:txBody>
        </p:sp>
        <p:sp>
          <p:nvSpPr>
            <p:cNvPr id="906" name="Forma 906"/>
            <p:cNvSpPr/>
            <p:nvPr/>
          </p:nvSpPr>
          <p:spPr>
            <a:xfrm>
              <a:off x="6405372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orma 907"/>
            <p:cNvSpPr/>
            <p:nvPr/>
          </p:nvSpPr>
          <p:spPr>
            <a:xfrm>
              <a:off x="5838444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17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Plano geral da LOSTECH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Auditoria, fases −1 a 14 e MVP: OS, estoque e caixa.</a:t>
              </a:r>
            </a:p>
          </p:txBody>
        </p:sp>
        <p:sp>
          <p:nvSpPr>
            <p:cNvPr id="908" name="Forma 908"/>
            <p:cNvSpPr/>
            <p:nvPr/>
          </p:nvSpPr>
          <p:spPr>
            <a:xfrm>
              <a:off x="7900416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orma 909"/>
            <p:cNvSpPr/>
            <p:nvPr/>
          </p:nvSpPr>
          <p:spPr>
            <a:xfrm>
              <a:off x="7333488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23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Auditoria do LUMEN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Diagnóstico da versão 1.0.35 e arquitetura comercial.</a:t>
              </a:r>
            </a:p>
          </p:txBody>
        </p:sp>
        <p:sp>
          <p:nvSpPr>
            <p:cNvPr id="910" name="Forma 910"/>
            <p:cNvSpPr/>
            <p:nvPr/>
          </p:nvSpPr>
          <p:spPr>
            <a:xfrm>
              <a:off x="9395460" y="2606040"/>
              <a:ext cx="274320" cy="274320"/>
            </a:xfrm>
            <a:prstGeom prst="ellipse">
              <a:avLst/>
            </a:prstGeom>
            <a:solidFill>
              <a:srgbClr val="A259FF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orma 911"/>
            <p:cNvSpPr/>
            <p:nvPr/>
          </p:nvSpPr>
          <p:spPr>
            <a:xfrm>
              <a:off x="8828532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C9A7FF"/>
                  </a:solidFill>
                  <a:latin typeface="Montserrat"/>
                  <a:cs typeface="Montserrat"/>
                </a:rPr>
                <a:t>27 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Fase 0 concluída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Git, backup e correção das duas falhas críticas.</a:t>
              </a:r>
            </a:p>
          </p:txBody>
        </p:sp>
        <p:sp>
          <p:nvSpPr>
            <p:cNvPr id="912" name="Forma 912"/>
            <p:cNvSpPr/>
            <p:nvPr/>
          </p:nvSpPr>
          <p:spPr>
            <a:xfrm>
              <a:off x="10890504" y="2606040"/>
              <a:ext cx="274320" cy="274320"/>
            </a:xfrm>
            <a:prstGeom prst="ellipse">
              <a:avLst/>
            </a:prstGeom>
            <a:solidFill>
              <a:srgbClr val="FF2E97"/>
            </a:solidFill>
            <a:ln w="31750">
              <a:solidFill>
                <a:srgbClr val="0C0814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orma 913"/>
            <p:cNvSpPr/>
            <p:nvPr/>
          </p:nvSpPr>
          <p:spPr>
            <a:xfrm>
              <a:off x="10323576" y="3063240"/>
              <a:ext cx="1408176" cy="2926080"/>
            </a:xfrm>
            <a:prstGeom prst="roundRect">
              <a:avLst>
                <a:gd name="adj" fmla="val 7792"/>
              </a:avLst>
            </a:prstGeom>
            <a:solidFill>
              <a:srgbClr val="221639"/>
            </a:solidFill>
            <a:ln w="15875">
              <a:solidFill>
                <a:srgbClr val="FF2E97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2000" b="1" dirty="0">
                  <a:solidFill>
                    <a:srgbClr val="FF2E97"/>
                  </a:solidFill>
                  <a:latin typeface="Montserrat"/>
                  <a:cs typeface="Montserrat"/>
                </a:rPr>
                <a:t>20 out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Catálogo · Etapa 1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BDB0D6"/>
                  </a:solidFill>
                  <a:latin typeface="Montserrat"/>
                  <a:cs typeface="Montserrat"/>
                </a:rPr>
                <a:t>Requisitos fechados e 9 decisões registradas.</a:t>
              </a:r>
            </a:p>
          </p:txBody>
        </p:sp>
      </p:grpSp>
      <p:grpSp>
        <p:nvGrpSpPr>
          <p:cNvPr id="942" name="!!Faixa3"/>
          <p:cNvGrpSpPr/>
          <p:nvPr/>
        </p:nvGrpSpPr>
        <p:grpSpPr>
          <a:xfrm>
            <a:off x="4343400" y="9646920"/>
            <a:ext cx="7388352" cy="3429000"/>
            <a:chOff x="4343400" y="2606040"/>
            <a:chExt cx="7388352" cy="3429000"/>
          </a:xfrm>
        </p:grpSpPr>
        <p:sp>
          <p:nvSpPr>
            <p:cNvPr id="915" name="Forma 915"/>
            <p:cNvSpPr/>
            <p:nvPr/>
          </p:nvSpPr>
          <p:spPr>
            <a:xfrm>
              <a:off x="4343400" y="2606040"/>
              <a:ext cx="3429000" cy="3429000"/>
            </a:xfrm>
            <a:prstGeom prst="roundRect">
              <a:avLst>
                <a:gd name="adj" fmla="val 32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Texto 916"/>
            <p:cNvSpPr txBox="1"/>
            <p:nvPr/>
          </p:nvSpPr>
          <p:spPr>
            <a:xfrm>
              <a:off x="4526280" y="2734056"/>
              <a:ext cx="310896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Na planilha atual</a:t>
              </a:r>
            </a:p>
          </p:txBody>
        </p:sp>
        <p:sp>
          <p:nvSpPr>
            <p:cNvPr id="917" name="Texto 917"/>
            <p:cNvSpPr txBox="1"/>
            <p:nvPr/>
          </p:nvSpPr>
          <p:spPr>
            <a:xfrm>
              <a:off x="4526280" y="3017520"/>
              <a:ext cx="3108960" cy="2560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8C7DAA"/>
                  </a:solidFill>
                  <a:latin typeface="Montserrat"/>
                  <a:cs typeface="Montserrat"/>
                </a:rPr>
                <a:t>EspecificacoesTecnicas · PRD0001</a:t>
              </a:r>
            </a:p>
          </p:txBody>
        </p:sp>
        <p:sp>
          <p:nvSpPr>
            <p:cNvPr id="918" name="Texto 918"/>
            <p:cNvSpPr txBox="1"/>
            <p:nvPr/>
          </p:nvSpPr>
          <p:spPr>
            <a:xfrm>
              <a:off x="4599432" y="3337560"/>
              <a:ext cx="932688" cy="3474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8C7DAA"/>
                  </a:solidFill>
                  <a:latin typeface="Montserrat"/>
                  <a:cs typeface="Montserrat"/>
                </a:rPr>
                <a:t>Atributo</a:t>
              </a:r>
            </a:p>
          </p:txBody>
        </p:sp>
        <p:sp>
          <p:nvSpPr>
            <p:cNvPr id="919" name="Texto 919"/>
            <p:cNvSpPr txBox="1"/>
            <p:nvPr/>
          </p:nvSpPr>
          <p:spPr>
            <a:xfrm>
              <a:off x="5605272" y="3337560"/>
              <a:ext cx="1115568" cy="3474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8C7DAA"/>
                  </a:solidFill>
                  <a:latin typeface="Montserrat"/>
                  <a:cs typeface="Montserrat"/>
                </a:rPr>
                <a:t>Valor</a:t>
              </a:r>
            </a:p>
          </p:txBody>
        </p:sp>
        <p:sp>
          <p:nvSpPr>
            <p:cNvPr id="920" name="Texto 920"/>
            <p:cNvSpPr txBox="1"/>
            <p:nvPr/>
          </p:nvSpPr>
          <p:spPr>
            <a:xfrm>
              <a:off x="6793992" y="3337560"/>
              <a:ext cx="795528" cy="3474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8C7DAA"/>
                  </a:solidFill>
                  <a:latin typeface="Montserrat"/>
                  <a:cs typeface="Montserrat"/>
                </a:rPr>
                <a:t>Unidade</a:t>
              </a:r>
            </a:p>
          </p:txBody>
        </p:sp>
        <p:sp>
          <p:nvSpPr>
            <p:cNvPr id="921" name="Forma 921"/>
            <p:cNvSpPr/>
            <p:nvPr/>
          </p:nvSpPr>
          <p:spPr>
            <a:xfrm>
              <a:off x="4526280" y="3685032"/>
              <a:ext cx="3063240" cy="310896"/>
            </a:xfrm>
            <a:prstGeom prst="roundRect">
              <a:avLst>
                <a:gd name="adj" fmla="val 17647"/>
              </a:avLst>
            </a:prstGeom>
            <a:solidFill>
              <a:srgbClr val="221639"/>
            </a:solidFill>
            <a:ln w="15875">
              <a:solidFill>
                <a:srgbClr val="FF2E97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Texto 922"/>
            <p:cNvSpPr txBox="1"/>
            <p:nvPr/>
          </p:nvSpPr>
          <p:spPr>
            <a:xfrm>
              <a:off x="4599432" y="3685032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Tamanho</a:t>
              </a:r>
            </a:p>
          </p:txBody>
        </p:sp>
        <p:sp>
          <p:nvSpPr>
            <p:cNvPr id="923" name="Texto 923"/>
            <p:cNvSpPr txBox="1"/>
            <p:nvPr/>
          </p:nvSpPr>
          <p:spPr>
            <a:xfrm>
              <a:off x="5605272" y="3685032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F2E97"/>
                  </a:solidFill>
                  <a:latin typeface="Montserrat"/>
                  <a:cs typeface="Montserrat"/>
                </a:rPr>
                <a:t>120mm</a:t>
              </a:r>
            </a:p>
          </p:txBody>
        </p:sp>
        <p:sp>
          <p:nvSpPr>
            <p:cNvPr id="924" name="Texto 924"/>
            <p:cNvSpPr txBox="1"/>
            <p:nvPr/>
          </p:nvSpPr>
          <p:spPr>
            <a:xfrm>
              <a:off x="6793992" y="3685032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i="1" dirty="0">
                  <a:solidFill>
                    <a:srgbClr val="8C7DAA"/>
                  </a:solidFill>
                  <a:latin typeface="Montserrat"/>
                  <a:cs typeface="Montserrat"/>
                </a:rPr>
                <a:t>(vazio)</a:t>
              </a:r>
            </a:p>
          </p:txBody>
        </p:sp>
        <p:sp>
          <p:nvSpPr>
            <p:cNvPr id="925" name="Forma 925"/>
            <p:cNvSpPr/>
            <p:nvPr/>
          </p:nvSpPr>
          <p:spPr>
            <a:xfrm>
              <a:off x="4526280" y="4032504"/>
              <a:ext cx="3063240" cy="310896"/>
            </a:xfrm>
            <a:prstGeom prst="roundRect">
              <a:avLst>
                <a:gd name="adj" fmla="val 17647"/>
              </a:avLst>
            </a:prstGeom>
            <a:noFill/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Texto 926"/>
            <p:cNvSpPr txBox="1"/>
            <p:nvPr/>
          </p:nvSpPr>
          <p:spPr>
            <a:xfrm>
              <a:off x="4599432" y="4032504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RPM</a:t>
              </a:r>
            </a:p>
          </p:txBody>
        </p:sp>
        <p:sp>
          <p:nvSpPr>
            <p:cNvPr id="927" name="Texto 927"/>
            <p:cNvSpPr txBox="1"/>
            <p:nvPr/>
          </p:nvSpPr>
          <p:spPr>
            <a:xfrm>
              <a:off x="5605272" y="4032504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1500</a:t>
              </a:r>
            </a:p>
          </p:txBody>
        </p:sp>
        <p:sp>
          <p:nvSpPr>
            <p:cNvPr id="928" name="Texto 928"/>
            <p:cNvSpPr txBox="1"/>
            <p:nvPr/>
          </p:nvSpPr>
          <p:spPr>
            <a:xfrm>
              <a:off x="6793992" y="4032504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rpm</a:t>
              </a:r>
            </a:p>
          </p:txBody>
        </p:sp>
        <p:sp>
          <p:nvSpPr>
            <p:cNvPr id="929" name="Forma 929"/>
            <p:cNvSpPr/>
            <p:nvPr/>
          </p:nvSpPr>
          <p:spPr>
            <a:xfrm>
              <a:off x="4526280" y="4379976"/>
              <a:ext cx="3063240" cy="310896"/>
            </a:xfrm>
            <a:prstGeom prst="roundRect">
              <a:avLst>
                <a:gd name="adj" fmla="val 17647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Texto 930"/>
            <p:cNvSpPr txBox="1"/>
            <p:nvPr/>
          </p:nvSpPr>
          <p:spPr>
            <a:xfrm>
              <a:off x="4599432" y="4379976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Conector</a:t>
              </a:r>
            </a:p>
          </p:txBody>
        </p:sp>
        <p:sp>
          <p:nvSpPr>
            <p:cNvPr id="931" name="Texto 931"/>
            <p:cNvSpPr txBox="1"/>
            <p:nvPr/>
          </p:nvSpPr>
          <p:spPr>
            <a:xfrm>
              <a:off x="5605272" y="4379976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4-pin PWM</a:t>
              </a:r>
            </a:p>
          </p:txBody>
        </p:sp>
        <p:sp>
          <p:nvSpPr>
            <p:cNvPr id="932" name="Texto 932"/>
            <p:cNvSpPr txBox="1"/>
            <p:nvPr/>
          </p:nvSpPr>
          <p:spPr>
            <a:xfrm>
              <a:off x="6793992" y="4379976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8C7DAA"/>
                  </a:solidFill>
                  <a:latin typeface="Montserrat"/>
                  <a:cs typeface="Montserrat"/>
                </a:rPr>
                <a:t>—</a:t>
              </a:r>
            </a:p>
          </p:txBody>
        </p:sp>
        <p:sp>
          <p:nvSpPr>
            <p:cNvPr id="933" name="Forma 933"/>
            <p:cNvSpPr/>
            <p:nvPr/>
          </p:nvSpPr>
          <p:spPr>
            <a:xfrm>
              <a:off x="4526280" y="4727448"/>
              <a:ext cx="3063240" cy="310896"/>
            </a:xfrm>
            <a:prstGeom prst="roundRect">
              <a:avLst>
                <a:gd name="adj" fmla="val 17647"/>
              </a:avLst>
            </a:prstGeom>
            <a:noFill/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Texto 934"/>
            <p:cNvSpPr txBox="1"/>
            <p:nvPr/>
          </p:nvSpPr>
          <p:spPr>
            <a:xfrm>
              <a:off x="4599432" y="4727448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ARGB</a:t>
              </a:r>
            </a:p>
          </p:txBody>
        </p:sp>
        <p:sp>
          <p:nvSpPr>
            <p:cNvPr id="935" name="Texto 935"/>
            <p:cNvSpPr txBox="1"/>
            <p:nvPr/>
          </p:nvSpPr>
          <p:spPr>
            <a:xfrm>
              <a:off x="5605272" y="4727448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Sim</a:t>
              </a:r>
            </a:p>
          </p:txBody>
        </p:sp>
        <p:sp>
          <p:nvSpPr>
            <p:cNvPr id="936" name="Texto 936"/>
            <p:cNvSpPr txBox="1"/>
            <p:nvPr/>
          </p:nvSpPr>
          <p:spPr>
            <a:xfrm>
              <a:off x="6793992" y="4727448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8C7DAA"/>
                  </a:solidFill>
                  <a:latin typeface="Montserrat"/>
                  <a:cs typeface="Montserrat"/>
                </a:rPr>
                <a:t>—</a:t>
              </a:r>
            </a:p>
          </p:txBody>
        </p:sp>
        <p:sp>
          <p:nvSpPr>
            <p:cNvPr id="937" name="Texto 937"/>
            <p:cNvSpPr txBox="1"/>
            <p:nvPr/>
          </p:nvSpPr>
          <p:spPr>
            <a:xfrm>
              <a:off x="4526280" y="5193792"/>
              <a:ext cx="3063240" cy="7772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Unidade ora no valor, ora na coluna. Tudo é texto: não filtra, não valida, não compara.</a:t>
              </a:r>
            </a:p>
          </p:txBody>
        </p:sp>
        <p:sp>
          <p:nvSpPr>
            <p:cNvPr id="938" name="Forma 938"/>
            <p:cNvSpPr/>
            <p:nvPr/>
          </p:nvSpPr>
          <p:spPr>
            <a:xfrm>
              <a:off x="7955280" y="2606040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Unidade ambígua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DDR4-3200 aparece como 3200 MHz ou 1600 MHz; o comparável é 3200 MT/s.</a:t>
              </a:r>
            </a:p>
          </p:txBody>
        </p:sp>
        <p:sp>
          <p:nvSpPr>
            <p:cNvPr id="939" name="Forma 939"/>
            <p:cNvSpPr/>
            <p:nvPr/>
          </p:nvSpPr>
          <p:spPr>
            <a:xfrm>
              <a:off x="9898380" y="2606040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Marca ≠ chip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ASUS Dual RTX 4060 OC → RTX 4060 → chip AD107, gravados como um só.</a:t>
              </a:r>
            </a:p>
          </p:txBody>
        </p:sp>
        <p:sp>
          <p:nvSpPr>
            <p:cNvPr id="940" name="Forma 940"/>
            <p:cNvSpPr/>
            <p:nvPr/>
          </p:nvSpPr>
          <p:spPr>
            <a:xfrm>
              <a:off x="7955280" y="4375404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Sem compatibilidade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Sem comprimento da GPU, altura do cooler e socket, nada é checado.</a:t>
              </a:r>
            </a:p>
          </p:txBody>
        </p:sp>
        <p:sp>
          <p:nvSpPr>
            <p:cNvPr id="941" name="Forma 941"/>
            <p:cNvSpPr/>
            <p:nvPr/>
          </p:nvSpPr>
          <p:spPr>
            <a:xfrm>
              <a:off x="9898380" y="4375404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sem banco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Dados em arquivos JSON, sem login nem separação por empresa.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7958623">
            <a:off x="-708808" y="3995189"/>
            <a:ext cx="874912" cy="186962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11162995">
            <a:off x="-1329569" y="2550412"/>
            <a:ext cx="886132" cy="1880822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14374574">
            <a:off x="-649863" y="1172038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17644067">
            <a:off x="833227" y="885963"/>
            <a:ext cx="988046" cy="1861085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20859902">
            <a:off x="2461683" y="1199710"/>
            <a:ext cx="1457289" cy="2587563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1843394">
            <a:off x="2047523" y="3423742"/>
            <a:ext cx="931683" cy="1883012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5516423">
            <a:off x="780123" y="4377041"/>
            <a:ext cx="1049351" cy="1838435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2" y="3213483"/>
            <a:ext cx="2202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  <a:p>
            <a:pPr algn="ctr"/>
            <a:endParaRPr lang="pt-BR" sz="32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1" name="!!Titulo"/>
          <p:cNvSpPr txBox="1"/>
          <p:nvPr/>
        </p:nvSpPr>
        <p:spPr>
          <a:xfrm>
            <a:off x="4343400" y="347472"/>
            <a:ext cx="7388352" cy="1207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5F0FF"/>
                </a:solidFill>
                <a:latin typeface="Montserrat"/>
                <a:cs typeface="Montserrat"/>
              </a:rPr>
              <a:t>EXEMPLOS DO PROBLEMA</a:t>
            </a:r>
          </a:p>
        </p:txBody>
      </p:sp>
      <p:sp>
        <p:nvSpPr>
          <p:cNvPr id="902" name="!!Texto"/>
          <p:cNvSpPr txBox="1"/>
          <p:nvPr/>
        </p:nvSpPr>
        <p:spPr>
          <a:xfrm>
            <a:off x="4343400" y="1645920"/>
            <a:ext cx="7022592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BDB0D6"/>
                </a:solidFill>
                <a:latin typeface="Montserrat"/>
                <a:cs typeface="Montserrat"/>
              </a:rPr>
              <a:t>A especificação existe, mas em texto livre: não dá para comparar peças nem checar compatibilidade.</a:t>
            </a:r>
          </a:p>
        </p:txBody>
      </p:sp>
      <p:grpSp>
        <p:nvGrpSpPr>
          <p:cNvPr id="930" name="!!Faixa3"/>
          <p:cNvGrpSpPr/>
          <p:nvPr/>
        </p:nvGrpSpPr>
        <p:grpSpPr>
          <a:xfrm>
            <a:off x="4343400" y="2606040"/>
            <a:ext cx="7388352" cy="3429000"/>
            <a:chOff x="4343400" y="2606040"/>
            <a:chExt cx="7388352" cy="3429000"/>
          </a:xfrm>
        </p:grpSpPr>
        <p:sp>
          <p:nvSpPr>
            <p:cNvPr id="903" name="Forma 903"/>
            <p:cNvSpPr/>
            <p:nvPr/>
          </p:nvSpPr>
          <p:spPr>
            <a:xfrm>
              <a:off x="4343400" y="2606040"/>
              <a:ext cx="3429000" cy="3429000"/>
            </a:xfrm>
            <a:prstGeom prst="roundRect">
              <a:avLst>
                <a:gd name="adj" fmla="val 32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Texto 904"/>
            <p:cNvSpPr txBox="1"/>
            <p:nvPr/>
          </p:nvSpPr>
          <p:spPr>
            <a:xfrm>
              <a:off x="4526280" y="2734056"/>
              <a:ext cx="310896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Na planilha atual</a:t>
              </a:r>
            </a:p>
          </p:txBody>
        </p:sp>
        <p:sp>
          <p:nvSpPr>
            <p:cNvPr id="905" name="Texto 905"/>
            <p:cNvSpPr txBox="1"/>
            <p:nvPr/>
          </p:nvSpPr>
          <p:spPr>
            <a:xfrm>
              <a:off x="4526280" y="3017520"/>
              <a:ext cx="3108960" cy="2560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8C7DAA"/>
                  </a:solidFill>
                  <a:latin typeface="Montserrat"/>
                  <a:cs typeface="Montserrat"/>
                </a:rPr>
                <a:t>EspecificacoesTecnicas · PRD0001</a:t>
              </a:r>
            </a:p>
          </p:txBody>
        </p:sp>
        <p:sp>
          <p:nvSpPr>
            <p:cNvPr id="906" name="Texto 906"/>
            <p:cNvSpPr txBox="1"/>
            <p:nvPr/>
          </p:nvSpPr>
          <p:spPr>
            <a:xfrm>
              <a:off x="4599432" y="3337560"/>
              <a:ext cx="932688" cy="3474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8C7DAA"/>
                  </a:solidFill>
                  <a:latin typeface="Montserrat"/>
                  <a:cs typeface="Montserrat"/>
                </a:rPr>
                <a:t>Atributo</a:t>
              </a:r>
            </a:p>
          </p:txBody>
        </p:sp>
        <p:sp>
          <p:nvSpPr>
            <p:cNvPr id="907" name="Texto 907"/>
            <p:cNvSpPr txBox="1"/>
            <p:nvPr/>
          </p:nvSpPr>
          <p:spPr>
            <a:xfrm>
              <a:off x="5605272" y="3337560"/>
              <a:ext cx="1115568" cy="3474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8C7DAA"/>
                  </a:solidFill>
                  <a:latin typeface="Montserrat"/>
                  <a:cs typeface="Montserrat"/>
                </a:rPr>
                <a:t>Valor</a:t>
              </a:r>
            </a:p>
          </p:txBody>
        </p:sp>
        <p:sp>
          <p:nvSpPr>
            <p:cNvPr id="908" name="Texto 908"/>
            <p:cNvSpPr txBox="1"/>
            <p:nvPr/>
          </p:nvSpPr>
          <p:spPr>
            <a:xfrm>
              <a:off x="6793992" y="3337560"/>
              <a:ext cx="795528" cy="3474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8C7DAA"/>
                  </a:solidFill>
                  <a:latin typeface="Montserrat"/>
                  <a:cs typeface="Montserrat"/>
                </a:rPr>
                <a:t>Unidade</a:t>
              </a:r>
            </a:p>
          </p:txBody>
        </p:sp>
        <p:sp>
          <p:nvSpPr>
            <p:cNvPr id="909" name="Forma 909"/>
            <p:cNvSpPr/>
            <p:nvPr/>
          </p:nvSpPr>
          <p:spPr>
            <a:xfrm>
              <a:off x="4526280" y="3685032"/>
              <a:ext cx="3063240" cy="310896"/>
            </a:xfrm>
            <a:prstGeom prst="roundRect">
              <a:avLst>
                <a:gd name="adj" fmla="val 17647"/>
              </a:avLst>
            </a:prstGeom>
            <a:solidFill>
              <a:srgbClr val="221639"/>
            </a:solidFill>
            <a:ln w="15875">
              <a:solidFill>
                <a:srgbClr val="FF2E97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Texto 910"/>
            <p:cNvSpPr txBox="1"/>
            <p:nvPr/>
          </p:nvSpPr>
          <p:spPr>
            <a:xfrm>
              <a:off x="4599432" y="3685032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Tamanho</a:t>
              </a:r>
            </a:p>
          </p:txBody>
        </p:sp>
        <p:sp>
          <p:nvSpPr>
            <p:cNvPr id="911" name="Texto 911"/>
            <p:cNvSpPr txBox="1"/>
            <p:nvPr/>
          </p:nvSpPr>
          <p:spPr>
            <a:xfrm>
              <a:off x="5605272" y="3685032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F2E97"/>
                  </a:solidFill>
                  <a:latin typeface="Montserrat"/>
                  <a:cs typeface="Montserrat"/>
                </a:rPr>
                <a:t>120mm</a:t>
              </a:r>
            </a:p>
          </p:txBody>
        </p:sp>
        <p:sp>
          <p:nvSpPr>
            <p:cNvPr id="912" name="Texto 912"/>
            <p:cNvSpPr txBox="1"/>
            <p:nvPr/>
          </p:nvSpPr>
          <p:spPr>
            <a:xfrm>
              <a:off x="6793992" y="3685032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i="1" dirty="0">
                  <a:solidFill>
                    <a:srgbClr val="8C7DAA"/>
                  </a:solidFill>
                  <a:latin typeface="Montserrat"/>
                  <a:cs typeface="Montserrat"/>
                </a:rPr>
                <a:t>(vazio)</a:t>
              </a:r>
            </a:p>
          </p:txBody>
        </p:sp>
        <p:sp>
          <p:nvSpPr>
            <p:cNvPr id="913" name="Forma 913"/>
            <p:cNvSpPr/>
            <p:nvPr/>
          </p:nvSpPr>
          <p:spPr>
            <a:xfrm>
              <a:off x="4526280" y="4032504"/>
              <a:ext cx="3063240" cy="310896"/>
            </a:xfrm>
            <a:prstGeom prst="roundRect">
              <a:avLst>
                <a:gd name="adj" fmla="val 17647"/>
              </a:avLst>
            </a:prstGeom>
            <a:noFill/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Texto 914"/>
            <p:cNvSpPr txBox="1"/>
            <p:nvPr/>
          </p:nvSpPr>
          <p:spPr>
            <a:xfrm>
              <a:off x="4599432" y="4032504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RPM</a:t>
              </a:r>
            </a:p>
          </p:txBody>
        </p:sp>
        <p:sp>
          <p:nvSpPr>
            <p:cNvPr id="915" name="Texto 915"/>
            <p:cNvSpPr txBox="1"/>
            <p:nvPr/>
          </p:nvSpPr>
          <p:spPr>
            <a:xfrm>
              <a:off x="5605272" y="4032504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1500</a:t>
              </a:r>
            </a:p>
          </p:txBody>
        </p:sp>
        <p:sp>
          <p:nvSpPr>
            <p:cNvPr id="916" name="Texto 916"/>
            <p:cNvSpPr txBox="1"/>
            <p:nvPr/>
          </p:nvSpPr>
          <p:spPr>
            <a:xfrm>
              <a:off x="6793992" y="4032504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rpm</a:t>
              </a:r>
            </a:p>
          </p:txBody>
        </p:sp>
        <p:sp>
          <p:nvSpPr>
            <p:cNvPr id="917" name="Forma 917"/>
            <p:cNvSpPr/>
            <p:nvPr/>
          </p:nvSpPr>
          <p:spPr>
            <a:xfrm>
              <a:off x="4526280" y="4379976"/>
              <a:ext cx="3063240" cy="310896"/>
            </a:xfrm>
            <a:prstGeom prst="roundRect">
              <a:avLst>
                <a:gd name="adj" fmla="val 17647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Texto 918"/>
            <p:cNvSpPr txBox="1"/>
            <p:nvPr/>
          </p:nvSpPr>
          <p:spPr>
            <a:xfrm>
              <a:off x="4599432" y="4379976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Conector</a:t>
              </a:r>
            </a:p>
          </p:txBody>
        </p:sp>
        <p:sp>
          <p:nvSpPr>
            <p:cNvPr id="919" name="Texto 919"/>
            <p:cNvSpPr txBox="1"/>
            <p:nvPr/>
          </p:nvSpPr>
          <p:spPr>
            <a:xfrm>
              <a:off x="5605272" y="4379976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4-pin PWM</a:t>
              </a:r>
            </a:p>
          </p:txBody>
        </p:sp>
        <p:sp>
          <p:nvSpPr>
            <p:cNvPr id="920" name="Texto 920"/>
            <p:cNvSpPr txBox="1"/>
            <p:nvPr/>
          </p:nvSpPr>
          <p:spPr>
            <a:xfrm>
              <a:off x="6793992" y="4379976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8C7DAA"/>
                  </a:solidFill>
                  <a:latin typeface="Montserrat"/>
                  <a:cs typeface="Montserrat"/>
                </a:rPr>
                <a:t>—</a:t>
              </a:r>
            </a:p>
          </p:txBody>
        </p:sp>
        <p:sp>
          <p:nvSpPr>
            <p:cNvPr id="921" name="Forma 921"/>
            <p:cNvSpPr/>
            <p:nvPr/>
          </p:nvSpPr>
          <p:spPr>
            <a:xfrm>
              <a:off x="4526280" y="4727448"/>
              <a:ext cx="3063240" cy="310896"/>
            </a:xfrm>
            <a:prstGeom prst="roundRect">
              <a:avLst>
                <a:gd name="adj" fmla="val 17647"/>
              </a:avLst>
            </a:prstGeom>
            <a:noFill/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Texto 922"/>
            <p:cNvSpPr txBox="1"/>
            <p:nvPr/>
          </p:nvSpPr>
          <p:spPr>
            <a:xfrm>
              <a:off x="4599432" y="4727448"/>
              <a:ext cx="93268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ARGB</a:t>
              </a:r>
            </a:p>
          </p:txBody>
        </p:sp>
        <p:sp>
          <p:nvSpPr>
            <p:cNvPr id="923" name="Texto 923"/>
            <p:cNvSpPr txBox="1"/>
            <p:nvPr/>
          </p:nvSpPr>
          <p:spPr>
            <a:xfrm>
              <a:off x="5605272" y="4727448"/>
              <a:ext cx="111556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F5F0FF"/>
                  </a:solidFill>
                  <a:latin typeface="Montserrat"/>
                  <a:cs typeface="Montserrat"/>
                </a:rPr>
                <a:t>Sim</a:t>
              </a:r>
            </a:p>
          </p:txBody>
        </p:sp>
        <p:sp>
          <p:nvSpPr>
            <p:cNvPr id="924" name="Texto 924"/>
            <p:cNvSpPr txBox="1"/>
            <p:nvPr/>
          </p:nvSpPr>
          <p:spPr>
            <a:xfrm>
              <a:off x="6793992" y="4727448"/>
              <a:ext cx="795528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dirty="0">
                  <a:solidFill>
                    <a:srgbClr val="8C7DAA"/>
                  </a:solidFill>
                  <a:latin typeface="Montserrat"/>
                  <a:cs typeface="Montserrat"/>
                </a:rPr>
                <a:t>—</a:t>
              </a:r>
            </a:p>
          </p:txBody>
        </p:sp>
        <p:sp>
          <p:nvSpPr>
            <p:cNvPr id="925" name="Texto 925"/>
            <p:cNvSpPr txBox="1"/>
            <p:nvPr/>
          </p:nvSpPr>
          <p:spPr>
            <a:xfrm>
              <a:off x="4526280" y="5193792"/>
              <a:ext cx="3063240" cy="7772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Unidade ora no valor, ora na coluna. Tudo é texto: não filtra, não valida, não compara.</a:t>
              </a:r>
            </a:p>
          </p:txBody>
        </p:sp>
        <p:sp>
          <p:nvSpPr>
            <p:cNvPr id="926" name="Forma 926"/>
            <p:cNvSpPr/>
            <p:nvPr/>
          </p:nvSpPr>
          <p:spPr>
            <a:xfrm>
              <a:off x="7955280" y="2606040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Unidade ambígua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DDR4-3200 aparece como 3200 MHz ou 1600 MHz; o comparável é 3200 MT/s.</a:t>
              </a:r>
            </a:p>
          </p:txBody>
        </p:sp>
        <p:sp>
          <p:nvSpPr>
            <p:cNvPr id="927" name="Forma 927"/>
            <p:cNvSpPr/>
            <p:nvPr/>
          </p:nvSpPr>
          <p:spPr>
            <a:xfrm>
              <a:off x="9898380" y="2606040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Marca ≠ chip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ASUS Dual RTX 4060 OC → RTX 4060 → chip AD107, gravados como um só.</a:t>
              </a:r>
            </a:p>
          </p:txBody>
        </p:sp>
        <p:sp>
          <p:nvSpPr>
            <p:cNvPr id="928" name="Forma 928"/>
            <p:cNvSpPr/>
            <p:nvPr/>
          </p:nvSpPr>
          <p:spPr>
            <a:xfrm>
              <a:off x="7955280" y="4375404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Sem compatibilidade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Sem comprimento da GPU, altura do cooler e socket, nada é checado.</a:t>
              </a:r>
            </a:p>
          </p:txBody>
        </p:sp>
        <p:sp>
          <p:nvSpPr>
            <p:cNvPr id="929" name="Forma 929"/>
            <p:cNvSpPr/>
            <p:nvPr/>
          </p:nvSpPr>
          <p:spPr>
            <a:xfrm>
              <a:off x="9898380" y="4375404"/>
              <a:ext cx="1833372" cy="1659636"/>
            </a:xfrm>
            <a:prstGeom prst="roundRect">
              <a:avLst>
                <a:gd name="adj" fmla="val 661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sem banco</a:t>
              </a: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Dados em arquivos JSON, sem login nem separação por empresa.</a:t>
              </a:r>
            </a:p>
          </p:txBody>
        </p:sp>
      </p:grpSp>
      <p:grpSp>
        <p:nvGrpSpPr>
          <p:cNvPr id="949" name="!!Faixa4"/>
          <p:cNvGrpSpPr/>
          <p:nvPr/>
        </p:nvGrpSpPr>
        <p:grpSpPr>
          <a:xfrm>
            <a:off x="4343400" y="9646920"/>
            <a:ext cx="7388352" cy="3429000"/>
            <a:chOff x="4343400" y="2606040"/>
            <a:chExt cx="7388352" cy="3429000"/>
          </a:xfrm>
        </p:grpSpPr>
        <p:sp>
          <p:nvSpPr>
            <p:cNvPr id="931" name="Forma 931"/>
            <p:cNvSpPr/>
            <p:nvPr/>
          </p:nvSpPr>
          <p:spPr>
            <a:xfrm>
              <a:off x="4343400" y="260604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component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Modelo do fabricante</a:t>
              </a:r>
            </a:p>
          </p:txBody>
        </p:sp>
        <p:sp>
          <p:nvSpPr>
            <p:cNvPr id="932" name="Forma 932"/>
            <p:cNvSpPr/>
            <p:nvPr/>
          </p:nvSpPr>
          <p:spPr>
            <a:xfrm>
              <a:off x="6917436" y="260604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variant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Revisão / part number, UUID estável</a:t>
              </a:r>
            </a:p>
          </p:txBody>
        </p:sp>
        <p:sp>
          <p:nvSpPr>
            <p:cNvPr id="933" name="Forma 933"/>
            <p:cNvSpPr/>
            <p:nvPr/>
          </p:nvSpPr>
          <p:spPr>
            <a:xfrm>
              <a:off x="9491472" y="260604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9 subtabelas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Atributos tipados por categoria</a:t>
              </a:r>
            </a:p>
          </p:txBody>
        </p:sp>
        <p:cxnSp>
          <p:nvCxnSpPr>
            <p:cNvPr id="934" name="Conector 934"/>
            <p:cNvCxnSpPr/>
            <p:nvPr/>
          </p:nvCxnSpPr>
          <p:spPr>
            <a:xfrm>
              <a:off x="6620256" y="3063240"/>
              <a:ext cx="260604" cy="0"/>
            </a:xfrm>
            <a:prstGeom prst="line">
              <a:avLst/>
            </a:prstGeom>
            <a:ln w="22225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35" name="Conector 935"/>
            <p:cNvCxnSpPr/>
            <p:nvPr/>
          </p:nvCxnSpPr>
          <p:spPr>
            <a:xfrm>
              <a:off x="9194292" y="3063240"/>
              <a:ext cx="260604" cy="0"/>
            </a:xfrm>
            <a:prstGeom prst="line">
              <a:avLst/>
            </a:prstGeom>
            <a:ln w="22225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36" name="Conector 936"/>
            <p:cNvCxnSpPr/>
            <p:nvPr/>
          </p:nvCxnSpPr>
          <p:spPr>
            <a:xfrm>
              <a:off x="8037576" y="3520440"/>
              <a:ext cx="0" cy="155448"/>
            </a:xfrm>
            <a:prstGeom prst="line">
              <a:avLst/>
            </a:prstGeom>
            <a:ln w="19050">
              <a:solidFill>
                <a:srgbClr val="C9A7FF"/>
              </a:solidFill>
            </a:ln>
          </p:spPr>
        </p:cxnSp>
        <p:cxnSp>
          <p:nvCxnSpPr>
            <p:cNvPr id="937" name="Conector 937"/>
            <p:cNvCxnSpPr/>
            <p:nvPr/>
          </p:nvCxnSpPr>
          <p:spPr>
            <a:xfrm>
              <a:off x="5463540" y="3675888"/>
              <a:ext cx="5148072" cy="0"/>
            </a:xfrm>
            <a:prstGeom prst="line">
              <a:avLst/>
            </a:prstGeom>
            <a:ln w="19050">
              <a:solidFill>
                <a:srgbClr val="C9A7FF"/>
              </a:solidFill>
            </a:ln>
          </p:spPr>
        </p:cxnSp>
        <p:cxnSp>
          <p:nvCxnSpPr>
            <p:cNvPr id="938" name="Conector 938"/>
            <p:cNvCxnSpPr/>
            <p:nvPr/>
          </p:nvCxnSpPr>
          <p:spPr>
            <a:xfrm>
              <a:off x="5463540" y="3675888"/>
              <a:ext cx="0" cy="137160"/>
            </a:xfrm>
            <a:prstGeom prst="line">
              <a:avLst/>
            </a:prstGeom>
            <a:ln w="19050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39" name="Conector 939"/>
            <p:cNvCxnSpPr/>
            <p:nvPr/>
          </p:nvCxnSpPr>
          <p:spPr>
            <a:xfrm>
              <a:off x="8037576" y="3675888"/>
              <a:ext cx="0" cy="137160"/>
            </a:xfrm>
            <a:prstGeom prst="line">
              <a:avLst/>
            </a:prstGeom>
            <a:ln w="19050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40" name="Conector 940"/>
            <p:cNvCxnSpPr/>
            <p:nvPr/>
          </p:nvCxnSpPr>
          <p:spPr>
            <a:xfrm>
              <a:off x="10611612" y="3675888"/>
              <a:ext cx="0" cy="137160"/>
            </a:xfrm>
            <a:prstGeom prst="line">
              <a:avLst/>
            </a:prstGeom>
            <a:ln w="19050">
              <a:solidFill>
                <a:srgbClr val="C9A7FF"/>
              </a:solidFill>
              <a:tailEnd type="triangle" w="med" len="med"/>
            </a:ln>
          </p:spPr>
        </p:cxnSp>
        <p:sp>
          <p:nvSpPr>
            <p:cNvPr id="941" name="Forma 941"/>
            <p:cNvSpPr/>
            <p:nvPr/>
          </p:nvSpPr>
          <p:spPr>
            <a:xfrm>
              <a:off x="4343400" y="384048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assertion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Fonte, URL, data e confiança de cada valor</a:t>
              </a:r>
            </a:p>
          </p:txBody>
        </p:sp>
        <p:sp>
          <p:nvSpPr>
            <p:cNvPr id="942" name="Forma 942"/>
            <p:cNvSpPr/>
            <p:nvPr/>
          </p:nvSpPr>
          <p:spPr>
            <a:xfrm>
              <a:off x="6917436" y="384048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equivalence_class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Peças substituíveis da mesma classe</a:t>
              </a:r>
            </a:p>
          </p:txBody>
        </p:sp>
        <p:sp>
          <p:nvSpPr>
            <p:cNvPr id="943" name="Forma 943"/>
            <p:cNvSpPr/>
            <p:nvPr/>
          </p:nvSpPr>
          <p:spPr>
            <a:xfrm>
              <a:off x="9491472" y="384048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views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Leitura estável para o LUMEN</a:t>
              </a:r>
            </a:p>
          </p:txBody>
        </p:sp>
        <p:cxnSp>
          <p:nvCxnSpPr>
            <p:cNvPr id="944" name="Conector 944"/>
            <p:cNvCxnSpPr/>
            <p:nvPr/>
          </p:nvCxnSpPr>
          <p:spPr>
            <a:xfrm>
              <a:off x="10611612" y="4754880"/>
              <a:ext cx="0" cy="228600"/>
            </a:xfrm>
            <a:prstGeom prst="line">
              <a:avLst/>
            </a:prstGeom>
            <a:ln w="22225">
              <a:solidFill>
                <a:srgbClr val="FF2E97"/>
              </a:solidFill>
              <a:tailEnd type="triangle" w="med" len="med"/>
            </a:ln>
          </p:spPr>
        </p:cxnSp>
        <p:sp>
          <p:nvSpPr>
            <p:cNvPr id="945" name="Forma 945"/>
            <p:cNvSpPr/>
            <p:nvPr/>
          </p:nvSpPr>
          <p:spPr>
            <a:xfrm>
              <a:off x="4343400" y="5010912"/>
              <a:ext cx="7388352" cy="1024128"/>
            </a:xfrm>
            <a:prstGeom prst="roundRect">
              <a:avLst>
                <a:gd name="adj" fmla="val 10714"/>
              </a:avLst>
            </a:prstGeom>
            <a:solidFill>
              <a:srgbClr val="221639"/>
            </a:solidFill>
            <a:ln w="19050">
              <a:solidFill>
                <a:srgbClr val="FF2E97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orma 946"/>
            <p:cNvSpPr/>
            <p:nvPr/>
          </p:nvSpPr>
          <p:spPr>
            <a:xfrm>
              <a:off x="4526280" y="5239512"/>
              <a:ext cx="566928" cy="566928"/>
            </a:xfrm>
            <a:prstGeom prst="ellipse">
              <a:avLst/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7" name="Ícone BsDatabas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53839" y="5367071"/>
              <a:ext cx="311810" cy="311810"/>
            </a:xfrm>
            <a:prstGeom prst="rect">
              <a:avLst/>
            </a:prstGeom>
          </p:spPr>
        </p:pic>
        <p:sp>
          <p:nvSpPr>
            <p:cNvPr id="948" name="Texto 948"/>
            <p:cNvSpPr txBox="1"/>
            <p:nvPr/>
          </p:nvSpPr>
          <p:spPr>
            <a:xfrm>
              <a:off x="5257800" y="5074920"/>
              <a:ext cx="6291072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Client (desktop)  ⇄  LUMEN Cloud · PostgreSQL 16+ com RLS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Recomenda equipamento, checa compatibilidade e calcula a demanda por classe de peça.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4933462">
            <a:off x="834317" y="4338698"/>
            <a:ext cx="874912" cy="186962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8137834">
            <a:off x="-672460" y="3890222"/>
            <a:ext cx="886132" cy="1880822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11349413">
            <a:off x="-1310640" y="2475336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14618906">
            <a:off x="-603339" y="1127074"/>
            <a:ext cx="988046" cy="1861085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17834741">
            <a:off x="869226" y="817419"/>
            <a:ext cx="1040921" cy="1848259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20418233">
            <a:off x="2656954" y="1171136"/>
            <a:ext cx="1304356" cy="2636217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2491262">
            <a:off x="2033648" y="3372874"/>
            <a:ext cx="1049351" cy="1838435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2" y="3213483"/>
            <a:ext cx="2202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  <a:p>
            <a:pPr algn="ctr"/>
            <a:endParaRPr lang="pt-BR" sz="32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1" name="!!Titulo"/>
          <p:cNvSpPr txBox="1"/>
          <p:nvPr/>
        </p:nvSpPr>
        <p:spPr>
          <a:xfrm>
            <a:off x="4343400" y="347472"/>
            <a:ext cx="7388352" cy="1207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5F0FF"/>
                </a:solidFill>
                <a:latin typeface="Montserrat"/>
                <a:cs typeface="Montserrat"/>
              </a:rPr>
              <a:t>NOSSA SOLUÇÃO</a:t>
            </a:r>
          </a:p>
        </p:txBody>
      </p:sp>
      <p:sp>
        <p:nvSpPr>
          <p:cNvPr id="902" name="!!Texto"/>
          <p:cNvSpPr txBox="1"/>
          <p:nvPr/>
        </p:nvSpPr>
        <p:spPr>
          <a:xfrm>
            <a:off x="4343400" y="1645920"/>
            <a:ext cx="7022592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BDB0D6"/>
                </a:solidFill>
                <a:latin typeface="Montserrat"/>
                <a:cs typeface="Montserrat"/>
              </a:rPr>
              <a:t>Catálogo técnico relacional em PostgreSQL: cada peça vira dado tipado e rastreável, lido pelo LUMEN.</a:t>
            </a:r>
          </a:p>
        </p:txBody>
      </p:sp>
      <p:grpSp>
        <p:nvGrpSpPr>
          <p:cNvPr id="921" name="!!Faixa4"/>
          <p:cNvGrpSpPr/>
          <p:nvPr/>
        </p:nvGrpSpPr>
        <p:grpSpPr>
          <a:xfrm>
            <a:off x="4343400" y="2606040"/>
            <a:ext cx="7388352" cy="3429000"/>
            <a:chOff x="4343400" y="2606040"/>
            <a:chExt cx="7388352" cy="3429000"/>
          </a:xfrm>
        </p:grpSpPr>
        <p:sp>
          <p:nvSpPr>
            <p:cNvPr id="903" name="Forma 903"/>
            <p:cNvSpPr/>
            <p:nvPr/>
          </p:nvSpPr>
          <p:spPr>
            <a:xfrm>
              <a:off x="4343400" y="260604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component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Modelo do fabricante</a:t>
              </a:r>
            </a:p>
          </p:txBody>
        </p:sp>
        <p:sp>
          <p:nvSpPr>
            <p:cNvPr id="904" name="Forma 904"/>
            <p:cNvSpPr/>
            <p:nvPr/>
          </p:nvSpPr>
          <p:spPr>
            <a:xfrm>
              <a:off x="6917436" y="260604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variant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Revisão / part number, UUID estável</a:t>
              </a:r>
            </a:p>
          </p:txBody>
        </p:sp>
        <p:sp>
          <p:nvSpPr>
            <p:cNvPr id="905" name="Forma 905"/>
            <p:cNvSpPr/>
            <p:nvPr/>
          </p:nvSpPr>
          <p:spPr>
            <a:xfrm>
              <a:off x="9491472" y="260604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9 subtabelas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Atributos tipados por categoria</a:t>
              </a:r>
            </a:p>
          </p:txBody>
        </p:sp>
        <p:cxnSp>
          <p:nvCxnSpPr>
            <p:cNvPr id="906" name="Conector 906"/>
            <p:cNvCxnSpPr/>
            <p:nvPr/>
          </p:nvCxnSpPr>
          <p:spPr>
            <a:xfrm>
              <a:off x="6620256" y="3063240"/>
              <a:ext cx="260604" cy="0"/>
            </a:xfrm>
            <a:prstGeom prst="line">
              <a:avLst/>
            </a:prstGeom>
            <a:ln w="22225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07" name="Conector 907"/>
            <p:cNvCxnSpPr/>
            <p:nvPr/>
          </p:nvCxnSpPr>
          <p:spPr>
            <a:xfrm>
              <a:off x="9194292" y="3063240"/>
              <a:ext cx="260604" cy="0"/>
            </a:xfrm>
            <a:prstGeom prst="line">
              <a:avLst/>
            </a:prstGeom>
            <a:ln w="22225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08" name="Conector 908"/>
            <p:cNvCxnSpPr/>
            <p:nvPr/>
          </p:nvCxnSpPr>
          <p:spPr>
            <a:xfrm>
              <a:off x="8037576" y="3520440"/>
              <a:ext cx="0" cy="155448"/>
            </a:xfrm>
            <a:prstGeom prst="line">
              <a:avLst/>
            </a:prstGeom>
            <a:ln w="19050">
              <a:solidFill>
                <a:srgbClr val="C9A7FF"/>
              </a:solidFill>
            </a:ln>
          </p:spPr>
        </p:cxnSp>
        <p:cxnSp>
          <p:nvCxnSpPr>
            <p:cNvPr id="909" name="Conector 909"/>
            <p:cNvCxnSpPr/>
            <p:nvPr/>
          </p:nvCxnSpPr>
          <p:spPr>
            <a:xfrm>
              <a:off x="5463540" y="3675888"/>
              <a:ext cx="5148072" cy="0"/>
            </a:xfrm>
            <a:prstGeom prst="line">
              <a:avLst/>
            </a:prstGeom>
            <a:ln w="19050">
              <a:solidFill>
                <a:srgbClr val="C9A7FF"/>
              </a:solidFill>
            </a:ln>
          </p:spPr>
        </p:cxnSp>
        <p:cxnSp>
          <p:nvCxnSpPr>
            <p:cNvPr id="910" name="Conector 910"/>
            <p:cNvCxnSpPr/>
            <p:nvPr/>
          </p:nvCxnSpPr>
          <p:spPr>
            <a:xfrm>
              <a:off x="5463540" y="3675888"/>
              <a:ext cx="0" cy="137160"/>
            </a:xfrm>
            <a:prstGeom prst="line">
              <a:avLst/>
            </a:prstGeom>
            <a:ln w="19050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11" name="Conector 911"/>
            <p:cNvCxnSpPr/>
            <p:nvPr/>
          </p:nvCxnSpPr>
          <p:spPr>
            <a:xfrm>
              <a:off x="8037576" y="3675888"/>
              <a:ext cx="0" cy="137160"/>
            </a:xfrm>
            <a:prstGeom prst="line">
              <a:avLst/>
            </a:prstGeom>
            <a:ln w="19050">
              <a:solidFill>
                <a:srgbClr val="C9A7FF"/>
              </a:solidFill>
              <a:tailEnd type="triangle" w="med" len="med"/>
            </a:ln>
          </p:spPr>
        </p:cxnSp>
        <p:cxnSp>
          <p:nvCxnSpPr>
            <p:cNvPr id="912" name="Conector 912"/>
            <p:cNvCxnSpPr/>
            <p:nvPr/>
          </p:nvCxnSpPr>
          <p:spPr>
            <a:xfrm>
              <a:off x="10611612" y="3675888"/>
              <a:ext cx="0" cy="137160"/>
            </a:xfrm>
            <a:prstGeom prst="line">
              <a:avLst/>
            </a:prstGeom>
            <a:ln w="19050">
              <a:solidFill>
                <a:srgbClr val="C9A7FF"/>
              </a:solidFill>
              <a:tailEnd type="triangle" w="med" len="med"/>
            </a:ln>
          </p:spPr>
        </p:cxnSp>
        <p:sp>
          <p:nvSpPr>
            <p:cNvPr id="913" name="Forma 913"/>
            <p:cNvSpPr/>
            <p:nvPr/>
          </p:nvSpPr>
          <p:spPr>
            <a:xfrm>
              <a:off x="4343400" y="384048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assertion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Fonte, URL, data e confiança de cada valor</a:t>
              </a:r>
            </a:p>
          </p:txBody>
        </p:sp>
        <p:sp>
          <p:nvSpPr>
            <p:cNvPr id="914" name="Forma 914"/>
            <p:cNvSpPr/>
            <p:nvPr/>
          </p:nvSpPr>
          <p:spPr>
            <a:xfrm>
              <a:off x="6917436" y="384048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equivalence_class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Peças substituíveis da mesma classe</a:t>
              </a:r>
            </a:p>
          </p:txBody>
        </p:sp>
        <p:sp>
          <p:nvSpPr>
            <p:cNvPr id="915" name="Forma 915"/>
            <p:cNvSpPr/>
            <p:nvPr/>
          </p:nvSpPr>
          <p:spPr>
            <a:xfrm>
              <a:off x="9491472" y="3840480"/>
              <a:ext cx="2240280" cy="914400"/>
            </a:xfrm>
            <a:prstGeom prst="roundRect">
              <a:avLst>
                <a:gd name="adj" fmla="val 1200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28016" tIns="128016" rIns="128016" bIns="128016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views</a:t>
              </a:r>
            </a:p>
            <a:p>
              <a:pPr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Leitura estável para o LUMEN</a:t>
              </a:r>
            </a:p>
          </p:txBody>
        </p:sp>
        <p:cxnSp>
          <p:nvCxnSpPr>
            <p:cNvPr id="916" name="Conector 916"/>
            <p:cNvCxnSpPr/>
            <p:nvPr/>
          </p:nvCxnSpPr>
          <p:spPr>
            <a:xfrm>
              <a:off x="10611612" y="4754880"/>
              <a:ext cx="0" cy="228600"/>
            </a:xfrm>
            <a:prstGeom prst="line">
              <a:avLst/>
            </a:prstGeom>
            <a:ln w="22225">
              <a:solidFill>
                <a:srgbClr val="FF2E97"/>
              </a:solidFill>
              <a:tailEnd type="triangle" w="med" len="med"/>
            </a:ln>
          </p:spPr>
        </p:cxnSp>
        <p:sp>
          <p:nvSpPr>
            <p:cNvPr id="917" name="Forma 917"/>
            <p:cNvSpPr/>
            <p:nvPr/>
          </p:nvSpPr>
          <p:spPr>
            <a:xfrm>
              <a:off x="4343400" y="5010912"/>
              <a:ext cx="7388352" cy="1024128"/>
            </a:xfrm>
            <a:prstGeom prst="roundRect">
              <a:avLst>
                <a:gd name="adj" fmla="val 10714"/>
              </a:avLst>
            </a:prstGeom>
            <a:solidFill>
              <a:srgbClr val="221639"/>
            </a:solidFill>
            <a:ln w="19050">
              <a:solidFill>
                <a:srgbClr val="FF2E97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orma 918"/>
            <p:cNvSpPr/>
            <p:nvPr/>
          </p:nvSpPr>
          <p:spPr>
            <a:xfrm>
              <a:off x="4526280" y="5239512"/>
              <a:ext cx="566928" cy="566928"/>
            </a:xfrm>
            <a:prstGeom prst="ellipse">
              <a:avLst/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9" name="Ícone BsDatabas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53839" y="5367071"/>
              <a:ext cx="311810" cy="311810"/>
            </a:xfrm>
            <a:prstGeom prst="rect">
              <a:avLst/>
            </a:prstGeom>
          </p:spPr>
        </p:pic>
        <p:sp>
          <p:nvSpPr>
            <p:cNvPr id="920" name="Texto 920"/>
            <p:cNvSpPr txBox="1"/>
            <p:nvPr/>
          </p:nvSpPr>
          <p:spPr>
            <a:xfrm>
              <a:off x="5257800" y="5074920"/>
              <a:ext cx="6291072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Client (desktop)  ⇄  LUMEN Cloud · PostgreSQL 16+ com RLS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Recomenda equipamento, checa compatibilidade e calcula a demanda por classe de peça.</a:t>
              </a:r>
            </a:p>
          </p:txBody>
        </p:sp>
      </p:grpSp>
      <p:grpSp>
        <p:nvGrpSpPr>
          <p:cNvPr id="960" name="!!Faixa5"/>
          <p:cNvGrpSpPr/>
          <p:nvPr/>
        </p:nvGrpSpPr>
        <p:grpSpPr>
          <a:xfrm>
            <a:off x="4343400" y="9646920"/>
            <a:ext cx="7388352" cy="3429000"/>
            <a:chOff x="4343400" y="2606040"/>
            <a:chExt cx="7388352" cy="3429000"/>
          </a:xfrm>
        </p:grpSpPr>
        <p:sp>
          <p:nvSpPr>
            <p:cNvPr id="922" name="Forma 922"/>
            <p:cNvSpPr/>
            <p:nvPr/>
          </p:nvSpPr>
          <p:spPr>
            <a:xfrm>
              <a:off x="4343400" y="2606040"/>
              <a:ext cx="2389632" cy="342900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Texto 923"/>
            <p:cNvSpPr txBox="1"/>
            <p:nvPr/>
          </p:nvSpPr>
          <p:spPr>
            <a:xfrm>
              <a:off x="4489704" y="2715768"/>
              <a:ext cx="211531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e catálogo</a:t>
              </a:r>
            </a:p>
          </p:txBody>
        </p:sp>
        <p:sp>
          <p:nvSpPr>
            <p:cNvPr id="924" name="Texto 924"/>
            <p:cNvSpPr txBox="1"/>
            <p:nvPr/>
          </p:nvSpPr>
          <p:spPr>
            <a:xfrm>
              <a:off x="4489704" y="3108960"/>
              <a:ext cx="2115312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 b="1" dirty="0">
                  <a:solidFill>
                    <a:srgbClr val="FF2E97"/>
                  </a:solidFill>
                  <a:latin typeface="Montserrat"/>
                  <a:cs typeface="Montserrat"/>
                </a:rPr>
                <a:t>1</a:t>
              </a:r>
              <a:r>
                <a:rPr lang="pt-BR" sz="1400" b="1" dirty="0">
                  <a:solidFill>
                    <a:srgbClr val="8C7DAA"/>
                  </a:solidFill>
                  <a:latin typeface="Montserrat"/>
                  <a:cs typeface="Montserrat"/>
                </a:rPr>
                <a:t>/6  </a:t>
              </a: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Catálogo · etapas</a:t>
              </a:r>
            </a:p>
          </p:txBody>
        </p:sp>
        <p:sp>
          <p:nvSpPr>
            <p:cNvPr id="925" name="Forma 925"/>
            <p:cNvSpPr/>
            <p:nvPr/>
          </p:nvSpPr>
          <p:spPr>
            <a:xfrm>
              <a:off x="4489704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orma 926"/>
            <p:cNvSpPr/>
            <p:nvPr/>
          </p:nvSpPr>
          <p:spPr>
            <a:xfrm>
              <a:off x="4846828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orma 927"/>
            <p:cNvSpPr/>
            <p:nvPr/>
          </p:nvSpPr>
          <p:spPr>
            <a:xfrm>
              <a:off x="5203952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orma 928"/>
            <p:cNvSpPr/>
            <p:nvPr/>
          </p:nvSpPr>
          <p:spPr>
            <a:xfrm>
              <a:off x="5561076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orma 929"/>
            <p:cNvSpPr/>
            <p:nvPr/>
          </p:nvSpPr>
          <p:spPr>
            <a:xfrm>
              <a:off x="5918200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orma 930"/>
            <p:cNvSpPr/>
            <p:nvPr/>
          </p:nvSpPr>
          <p:spPr>
            <a:xfrm>
              <a:off x="6275324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Texto 931"/>
            <p:cNvSpPr txBox="1"/>
            <p:nvPr/>
          </p:nvSpPr>
          <p:spPr>
            <a:xfrm>
              <a:off x="4489704" y="3886200"/>
              <a:ext cx="2115312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 b="1" dirty="0">
                  <a:solidFill>
                    <a:srgbClr val="FF2E97"/>
                  </a:solidFill>
                  <a:latin typeface="Montserrat"/>
                  <a:cs typeface="Montserrat"/>
                </a:rPr>
                <a:t>1</a:t>
              </a:r>
              <a:r>
                <a:rPr lang="pt-BR" sz="1400" b="1" dirty="0">
                  <a:solidFill>
                    <a:srgbClr val="8C7DAA"/>
                  </a:solidFill>
                  <a:latin typeface="Montserrat"/>
                  <a:cs typeface="Montserrat"/>
                </a:rPr>
                <a:t>/7  </a:t>
              </a: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LUMEN · fases</a:t>
              </a:r>
            </a:p>
          </p:txBody>
        </p:sp>
        <p:sp>
          <p:nvSpPr>
            <p:cNvPr id="932" name="Forma 932"/>
            <p:cNvSpPr/>
            <p:nvPr/>
          </p:nvSpPr>
          <p:spPr>
            <a:xfrm>
              <a:off x="4489704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orma 933"/>
            <p:cNvSpPr/>
            <p:nvPr/>
          </p:nvSpPr>
          <p:spPr>
            <a:xfrm>
              <a:off x="4795810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orma 934"/>
            <p:cNvSpPr/>
            <p:nvPr/>
          </p:nvSpPr>
          <p:spPr>
            <a:xfrm>
              <a:off x="5101917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orma 935"/>
            <p:cNvSpPr/>
            <p:nvPr/>
          </p:nvSpPr>
          <p:spPr>
            <a:xfrm>
              <a:off x="5408023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orma 936"/>
            <p:cNvSpPr/>
            <p:nvPr/>
          </p:nvSpPr>
          <p:spPr>
            <a:xfrm>
              <a:off x="5714129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orma 937"/>
            <p:cNvSpPr/>
            <p:nvPr/>
          </p:nvSpPr>
          <p:spPr>
            <a:xfrm>
              <a:off x="6020235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orma 938"/>
            <p:cNvSpPr/>
            <p:nvPr/>
          </p:nvSpPr>
          <p:spPr>
            <a:xfrm>
              <a:off x="6326342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Texto 939"/>
            <p:cNvSpPr txBox="1"/>
            <p:nvPr/>
          </p:nvSpPr>
          <p:spPr>
            <a:xfrm>
              <a:off x="4489704" y="4709160"/>
              <a:ext cx="2115312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C9A7FF"/>
                  </a:solidFill>
                  <a:latin typeface="Montserrat"/>
                  <a:cs typeface="Montserrat"/>
                </a:rPr>
                <a:t>Em aprovação</a:t>
              </a:r>
            </a:p>
          </p:txBody>
        </p:sp>
        <p:sp>
          <p:nvSpPr>
            <p:cNvPr id="940" name="Texto 940"/>
            <p:cNvSpPr txBox="1"/>
            <p:nvPr/>
          </p:nvSpPr>
          <p:spPr>
            <a:xfrm>
              <a:off x="4489704" y="4983480"/>
              <a:ext cx="2115312" cy="10058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228600" indent="-22860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>
                  <a:srgbClr val="FF2E97"/>
                </a:buClr>
                <a:buSzPct val="100000"/>
                <a:buFont typeface="Arial"/>
                <a:buChar char="•"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Diagrama ER (Etapa 2)</a:t>
              </a:r>
            </a:p>
            <a:p>
              <a:pPr marL="228600" indent="-22860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>
                  <a:srgbClr val="FF2E97"/>
                </a:buClr>
                <a:buSzPct val="100000"/>
                <a:buFont typeface="Arial"/>
                <a:buChar char="•"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Fase 1 do LUMEN Cloud</a:t>
              </a:r>
            </a:p>
          </p:txBody>
        </p:sp>
        <p:sp>
          <p:nvSpPr>
            <p:cNvPr id="941" name="Forma 941"/>
            <p:cNvSpPr/>
            <p:nvPr/>
          </p:nvSpPr>
          <p:spPr>
            <a:xfrm>
              <a:off x="6842760" y="2606040"/>
              <a:ext cx="2389632" cy="342900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Texto 942"/>
            <p:cNvSpPr txBox="1"/>
            <p:nvPr/>
          </p:nvSpPr>
          <p:spPr>
            <a:xfrm>
              <a:off x="6989064" y="2715768"/>
              <a:ext cx="211531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BPMN</a:t>
              </a:r>
            </a:p>
          </p:txBody>
        </p:sp>
        <p:pic>
          <p:nvPicPr>
            <p:cNvPr id="943" name="BPMN" descr="Diagrama BPMN da LOSTTECH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87359" y="3063240"/>
              <a:ext cx="1700434" cy="2331720"/>
            </a:xfrm>
            <a:prstGeom prst="rect">
              <a:avLst/>
            </a:prstGeom>
            <a:ln w="12700">
              <a:solidFill>
                <a:srgbClr val="3A2A5C"/>
              </a:solidFill>
            </a:ln>
          </p:spPr>
        </p:pic>
        <p:sp>
          <p:nvSpPr>
            <p:cNvPr id="944" name="Texto 944"/>
            <p:cNvSpPr txBox="1"/>
            <p:nvPr/>
          </p:nvSpPr>
          <p:spPr>
            <a:xfrm>
              <a:off x="6989064" y="5458968"/>
              <a:ext cx="2115312" cy="502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6 raias · revisão 16/10 · losttech-hub</a:t>
              </a:r>
            </a:p>
          </p:txBody>
        </p:sp>
        <p:sp>
          <p:nvSpPr>
            <p:cNvPr id="945" name="Forma 945"/>
            <p:cNvSpPr/>
            <p:nvPr/>
          </p:nvSpPr>
          <p:spPr>
            <a:xfrm>
              <a:off x="9342120" y="2606040"/>
              <a:ext cx="2389632" cy="342900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Texto 946"/>
            <p:cNvSpPr txBox="1"/>
            <p:nvPr/>
          </p:nvSpPr>
          <p:spPr>
            <a:xfrm>
              <a:off x="9488424" y="2715768"/>
              <a:ext cx="211531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Marketing</a:t>
              </a:r>
            </a:p>
          </p:txBody>
        </p:sp>
        <p:sp>
          <p:nvSpPr>
            <p:cNvPr id="947" name="Forma 947"/>
            <p:cNvSpPr/>
            <p:nvPr/>
          </p:nvSpPr>
          <p:spPr>
            <a:xfrm>
              <a:off x="9488424" y="3145536"/>
              <a:ext cx="365760" cy="365760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8" name="Ícone BsInstagram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70720" y="3227832"/>
              <a:ext cx="201168" cy="201168"/>
            </a:xfrm>
            <a:prstGeom prst="rect">
              <a:avLst/>
            </a:prstGeom>
          </p:spPr>
        </p:pic>
        <p:sp>
          <p:nvSpPr>
            <p:cNvPr id="949" name="Texto 949"/>
            <p:cNvSpPr txBox="1"/>
            <p:nvPr/>
          </p:nvSpPr>
          <p:spPr>
            <a:xfrm>
              <a:off x="9945624" y="3108960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@losttechoficial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ativo</a:t>
              </a:r>
            </a:p>
          </p:txBody>
        </p:sp>
        <p:sp>
          <p:nvSpPr>
            <p:cNvPr id="950" name="Forma 950"/>
            <p:cNvSpPr/>
            <p:nvPr/>
          </p:nvSpPr>
          <p:spPr>
            <a:xfrm>
              <a:off x="9488424" y="3712464"/>
              <a:ext cx="365760" cy="365760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1" name="Ícone BsWhatsapp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70720" y="3794760"/>
              <a:ext cx="201168" cy="201168"/>
            </a:xfrm>
            <a:prstGeom prst="rect">
              <a:avLst/>
            </a:prstGeom>
          </p:spPr>
        </p:pic>
        <p:sp>
          <p:nvSpPr>
            <p:cNvPr id="952" name="Texto 952"/>
            <p:cNvSpPr txBox="1"/>
            <p:nvPr/>
          </p:nvSpPr>
          <p:spPr>
            <a:xfrm>
              <a:off x="9945624" y="3675888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WhatsApp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ativo</a:t>
              </a:r>
            </a:p>
          </p:txBody>
        </p:sp>
        <p:sp>
          <p:nvSpPr>
            <p:cNvPr id="953" name="Forma 953"/>
            <p:cNvSpPr/>
            <p:nvPr/>
          </p:nvSpPr>
          <p:spPr>
            <a:xfrm>
              <a:off x="9488424" y="4279392"/>
              <a:ext cx="365760" cy="365760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4" name="Ícone BsGlobe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70720" y="4361688"/>
              <a:ext cx="201168" cy="201168"/>
            </a:xfrm>
            <a:prstGeom prst="rect">
              <a:avLst/>
            </a:prstGeom>
          </p:spPr>
        </p:pic>
        <p:sp>
          <p:nvSpPr>
            <p:cNvPr id="955" name="Texto 955"/>
            <p:cNvSpPr txBox="1"/>
            <p:nvPr/>
          </p:nvSpPr>
          <p:spPr>
            <a:xfrm>
              <a:off x="9945624" y="4242816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Site LOSTLAB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pronto, não publicado</a:t>
              </a:r>
            </a:p>
          </p:txBody>
        </p:sp>
        <p:sp>
          <p:nvSpPr>
            <p:cNvPr id="956" name="Forma 956"/>
            <p:cNvSpPr/>
            <p:nvPr/>
          </p:nvSpPr>
          <p:spPr>
            <a:xfrm>
              <a:off x="9488424" y="4846320"/>
              <a:ext cx="365760" cy="365760"/>
            </a:xfrm>
            <a:prstGeom prst="ellipse">
              <a:avLst/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7" name="Ícone BsGeoAltFill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570720" y="4928616"/>
              <a:ext cx="201168" cy="201168"/>
            </a:xfrm>
            <a:prstGeom prst="rect">
              <a:avLst/>
            </a:prstGeom>
          </p:spPr>
        </p:pic>
        <p:sp>
          <p:nvSpPr>
            <p:cNvPr id="958" name="Texto 958"/>
            <p:cNvSpPr txBox="1"/>
            <p:nvPr/>
          </p:nvSpPr>
          <p:spPr>
            <a:xfrm>
              <a:off x="9945624" y="4809744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Google Meu Negócio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próximo passo</a:t>
              </a:r>
            </a:p>
          </p:txBody>
        </p:sp>
        <p:sp>
          <p:nvSpPr>
            <p:cNvPr id="959" name="Texto 959"/>
            <p:cNvSpPr txBox="1"/>
            <p:nvPr/>
          </p:nvSpPr>
          <p:spPr>
            <a:xfrm>
              <a:off x="9488424" y="5422392"/>
              <a:ext cx="2115312" cy="548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i="1" dirty="0">
                  <a:solidFill>
                    <a:srgbClr val="C9A7FF"/>
                  </a:solidFill>
                  <a:latin typeface="Montserrat"/>
                  <a:cs typeface="Montserrat"/>
                </a:rPr>
                <a:t>“Tecnologia funcionando. Você tranquilo.”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1734455">
            <a:off x="2122649" y="3283523"/>
            <a:ext cx="874912" cy="186962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4938827">
            <a:off x="865091" y="4217216"/>
            <a:ext cx="886132" cy="1880822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8150406">
            <a:off x="-660545" y="3870559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11419899">
            <a:off x="-1337955" y="2474214"/>
            <a:ext cx="988046" cy="1861085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14635734">
            <a:off x="-722374" y="1089685"/>
            <a:ext cx="1040921" cy="1848259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17219226">
            <a:off x="884429" y="705858"/>
            <a:ext cx="931683" cy="1883012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20892255">
            <a:off x="2477715" y="968380"/>
            <a:ext cx="1469091" cy="2573809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2" y="3213483"/>
            <a:ext cx="2202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  <a:p>
            <a:pPr algn="ctr"/>
            <a:endParaRPr lang="pt-BR" sz="32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1" name="!!Titulo"/>
          <p:cNvSpPr txBox="1"/>
          <p:nvPr/>
        </p:nvSpPr>
        <p:spPr>
          <a:xfrm>
            <a:off x="4343400" y="347472"/>
            <a:ext cx="7388352" cy="1207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5F0FF"/>
                </a:solidFill>
                <a:latin typeface="Montserrat"/>
                <a:cs typeface="Montserrat"/>
              </a:rPr>
              <a:t>ESTADO ATUAL</a:t>
            </a:r>
          </a:p>
        </p:txBody>
      </p:sp>
      <p:sp>
        <p:nvSpPr>
          <p:cNvPr id="902" name="!!Texto"/>
          <p:cNvSpPr txBox="1"/>
          <p:nvPr/>
        </p:nvSpPr>
        <p:spPr>
          <a:xfrm>
            <a:off x="4343400" y="1645920"/>
            <a:ext cx="7022592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BDB0D6"/>
                </a:solidFill>
                <a:latin typeface="Montserrat"/>
                <a:cs typeface="Montserrat"/>
              </a:rPr>
              <a:t>Catálogo na Etapa 1 de 6, LUMEN com a Fase 0 concluída, processo em BPMN e marca definida.</a:t>
            </a:r>
          </a:p>
        </p:txBody>
      </p:sp>
      <p:grpSp>
        <p:nvGrpSpPr>
          <p:cNvPr id="941" name="!!Faixa5"/>
          <p:cNvGrpSpPr/>
          <p:nvPr/>
        </p:nvGrpSpPr>
        <p:grpSpPr>
          <a:xfrm>
            <a:off x="4343400" y="2606040"/>
            <a:ext cx="7388352" cy="3429000"/>
            <a:chOff x="4343400" y="2606040"/>
            <a:chExt cx="7388352" cy="3429000"/>
          </a:xfrm>
        </p:grpSpPr>
        <p:sp>
          <p:nvSpPr>
            <p:cNvPr id="903" name="Forma 903"/>
            <p:cNvSpPr/>
            <p:nvPr/>
          </p:nvSpPr>
          <p:spPr>
            <a:xfrm>
              <a:off x="4343400" y="2606040"/>
              <a:ext cx="2389632" cy="342900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Texto 904"/>
            <p:cNvSpPr txBox="1"/>
            <p:nvPr/>
          </p:nvSpPr>
          <p:spPr>
            <a:xfrm>
              <a:off x="4489704" y="2715768"/>
              <a:ext cx="211531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e catálogo</a:t>
              </a:r>
            </a:p>
          </p:txBody>
        </p:sp>
        <p:sp>
          <p:nvSpPr>
            <p:cNvPr id="905" name="Texto 905"/>
            <p:cNvSpPr txBox="1"/>
            <p:nvPr/>
          </p:nvSpPr>
          <p:spPr>
            <a:xfrm>
              <a:off x="4489704" y="3108960"/>
              <a:ext cx="2115312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 b="1" dirty="0">
                  <a:solidFill>
                    <a:srgbClr val="FF2E97"/>
                  </a:solidFill>
                  <a:latin typeface="Montserrat"/>
                  <a:cs typeface="Montserrat"/>
                </a:rPr>
                <a:t>1</a:t>
              </a:r>
              <a:r>
                <a:rPr lang="pt-BR" sz="1400" b="1" dirty="0">
                  <a:solidFill>
                    <a:srgbClr val="8C7DAA"/>
                  </a:solidFill>
                  <a:latin typeface="Montserrat"/>
                  <a:cs typeface="Montserrat"/>
                </a:rPr>
                <a:t>/6  </a:t>
              </a: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Catálogo · etapas</a:t>
              </a:r>
            </a:p>
          </p:txBody>
        </p:sp>
        <p:sp>
          <p:nvSpPr>
            <p:cNvPr id="906" name="Forma 906"/>
            <p:cNvSpPr/>
            <p:nvPr/>
          </p:nvSpPr>
          <p:spPr>
            <a:xfrm>
              <a:off x="4489704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orma 907"/>
            <p:cNvSpPr/>
            <p:nvPr/>
          </p:nvSpPr>
          <p:spPr>
            <a:xfrm>
              <a:off x="4846828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orma 908"/>
            <p:cNvSpPr/>
            <p:nvPr/>
          </p:nvSpPr>
          <p:spPr>
            <a:xfrm>
              <a:off x="5203952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orma 909"/>
            <p:cNvSpPr/>
            <p:nvPr/>
          </p:nvSpPr>
          <p:spPr>
            <a:xfrm>
              <a:off x="5561076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orma 910"/>
            <p:cNvSpPr/>
            <p:nvPr/>
          </p:nvSpPr>
          <p:spPr>
            <a:xfrm>
              <a:off x="5918200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orma 911"/>
            <p:cNvSpPr/>
            <p:nvPr/>
          </p:nvSpPr>
          <p:spPr>
            <a:xfrm>
              <a:off x="6275324" y="3566160"/>
              <a:ext cx="311404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Texto 912"/>
            <p:cNvSpPr txBox="1"/>
            <p:nvPr/>
          </p:nvSpPr>
          <p:spPr>
            <a:xfrm>
              <a:off x="4489704" y="3886200"/>
              <a:ext cx="2115312" cy="38404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200" b="1" dirty="0">
                  <a:solidFill>
                    <a:srgbClr val="FF2E97"/>
                  </a:solidFill>
                  <a:latin typeface="Montserrat"/>
                  <a:cs typeface="Montserrat"/>
                </a:rPr>
                <a:t>1</a:t>
              </a:r>
              <a:r>
                <a:rPr lang="pt-BR" sz="1400" b="1" dirty="0">
                  <a:solidFill>
                    <a:srgbClr val="8C7DAA"/>
                  </a:solidFill>
                  <a:latin typeface="Montserrat"/>
                  <a:cs typeface="Montserrat"/>
                </a:rPr>
                <a:t>/7  </a:t>
              </a: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LUMEN · fases</a:t>
              </a:r>
            </a:p>
          </p:txBody>
        </p:sp>
        <p:sp>
          <p:nvSpPr>
            <p:cNvPr id="913" name="Forma 913"/>
            <p:cNvSpPr/>
            <p:nvPr/>
          </p:nvSpPr>
          <p:spPr>
            <a:xfrm>
              <a:off x="4489704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orma 914"/>
            <p:cNvSpPr/>
            <p:nvPr/>
          </p:nvSpPr>
          <p:spPr>
            <a:xfrm>
              <a:off x="4795810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orma 915"/>
            <p:cNvSpPr/>
            <p:nvPr/>
          </p:nvSpPr>
          <p:spPr>
            <a:xfrm>
              <a:off x="5101917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orma 916"/>
            <p:cNvSpPr/>
            <p:nvPr/>
          </p:nvSpPr>
          <p:spPr>
            <a:xfrm>
              <a:off x="5408023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orma 917"/>
            <p:cNvSpPr/>
            <p:nvPr/>
          </p:nvSpPr>
          <p:spPr>
            <a:xfrm>
              <a:off x="5714129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orma 918"/>
            <p:cNvSpPr/>
            <p:nvPr/>
          </p:nvSpPr>
          <p:spPr>
            <a:xfrm>
              <a:off x="6020235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orma 919"/>
            <p:cNvSpPr/>
            <p:nvPr/>
          </p:nvSpPr>
          <p:spPr>
            <a:xfrm>
              <a:off x="6326342" y="4343400"/>
              <a:ext cx="260386" cy="82296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Texto 920"/>
            <p:cNvSpPr txBox="1"/>
            <p:nvPr/>
          </p:nvSpPr>
          <p:spPr>
            <a:xfrm>
              <a:off x="4489704" y="4709160"/>
              <a:ext cx="2115312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C9A7FF"/>
                  </a:solidFill>
                  <a:latin typeface="Montserrat"/>
                  <a:cs typeface="Montserrat"/>
                </a:rPr>
                <a:t>Em aprovação</a:t>
              </a:r>
            </a:p>
          </p:txBody>
        </p:sp>
        <p:sp>
          <p:nvSpPr>
            <p:cNvPr id="921" name="Texto 921"/>
            <p:cNvSpPr txBox="1"/>
            <p:nvPr/>
          </p:nvSpPr>
          <p:spPr>
            <a:xfrm>
              <a:off x="4489704" y="4983480"/>
              <a:ext cx="2115312" cy="10058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228600" indent="-22860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>
                  <a:srgbClr val="FF2E97"/>
                </a:buClr>
                <a:buSzPct val="100000"/>
                <a:buFont typeface="Arial"/>
                <a:buChar char="•"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Diagrama ER (Etapa 2)</a:t>
              </a:r>
            </a:p>
            <a:p>
              <a:pPr marL="228600" indent="-228600"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>
                  <a:srgbClr val="FF2E97"/>
                </a:buClr>
                <a:buSzPct val="100000"/>
                <a:buFont typeface="Arial"/>
                <a:buChar char="•"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Fase 1 do LUMEN Cloud</a:t>
              </a:r>
            </a:p>
          </p:txBody>
        </p:sp>
        <p:sp>
          <p:nvSpPr>
            <p:cNvPr id="922" name="Forma 922"/>
            <p:cNvSpPr/>
            <p:nvPr/>
          </p:nvSpPr>
          <p:spPr>
            <a:xfrm>
              <a:off x="6842760" y="2606040"/>
              <a:ext cx="2389632" cy="342900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Texto 923"/>
            <p:cNvSpPr txBox="1"/>
            <p:nvPr/>
          </p:nvSpPr>
          <p:spPr>
            <a:xfrm>
              <a:off x="6989064" y="2715768"/>
              <a:ext cx="211531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BPMN</a:t>
              </a:r>
            </a:p>
          </p:txBody>
        </p:sp>
        <p:pic>
          <p:nvPicPr>
            <p:cNvPr id="924" name="BPMN" descr="Diagrama BPMN da LOSTTECH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87359" y="3063240"/>
              <a:ext cx="1700434" cy="2331720"/>
            </a:xfrm>
            <a:prstGeom prst="rect">
              <a:avLst/>
            </a:prstGeom>
            <a:ln w="12700">
              <a:solidFill>
                <a:srgbClr val="3A2A5C"/>
              </a:solidFill>
            </a:ln>
          </p:spPr>
        </p:pic>
        <p:sp>
          <p:nvSpPr>
            <p:cNvPr id="925" name="Texto 925"/>
            <p:cNvSpPr txBox="1"/>
            <p:nvPr/>
          </p:nvSpPr>
          <p:spPr>
            <a:xfrm>
              <a:off x="6989064" y="5458968"/>
              <a:ext cx="2115312" cy="502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6 raias · revisão 16/10 · losttech-hub</a:t>
              </a:r>
            </a:p>
          </p:txBody>
        </p:sp>
        <p:sp>
          <p:nvSpPr>
            <p:cNvPr id="926" name="Forma 926"/>
            <p:cNvSpPr/>
            <p:nvPr/>
          </p:nvSpPr>
          <p:spPr>
            <a:xfrm>
              <a:off x="9342120" y="2606040"/>
              <a:ext cx="2389632" cy="342900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Texto 927"/>
            <p:cNvSpPr txBox="1"/>
            <p:nvPr/>
          </p:nvSpPr>
          <p:spPr>
            <a:xfrm>
              <a:off x="9488424" y="2715768"/>
              <a:ext cx="211531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Marketing</a:t>
              </a:r>
            </a:p>
          </p:txBody>
        </p:sp>
        <p:sp>
          <p:nvSpPr>
            <p:cNvPr id="928" name="Forma 928"/>
            <p:cNvSpPr/>
            <p:nvPr/>
          </p:nvSpPr>
          <p:spPr>
            <a:xfrm>
              <a:off x="9488424" y="3145536"/>
              <a:ext cx="365760" cy="365760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9" name="Ícone BsInstagram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70720" y="3227832"/>
              <a:ext cx="201168" cy="201168"/>
            </a:xfrm>
            <a:prstGeom prst="rect">
              <a:avLst/>
            </a:prstGeom>
          </p:spPr>
        </p:pic>
        <p:sp>
          <p:nvSpPr>
            <p:cNvPr id="930" name="Texto 930"/>
            <p:cNvSpPr txBox="1"/>
            <p:nvPr/>
          </p:nvSpPr>
          <p:spPr>
            <a:xfrm>
              <a:off x="9945624" y="3108960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@losttechoficial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ativo</a:t>
              </a:r>
            </a:p>
          </p:txBody>
        </p:sp>
        <p:sp>
          <p:nvSpPr>
            <p:cNvPr id="931" name="Forma 931"/>
            <p:cNvSpPr/>
            <p:nvPr/>
          </p:nvSpPr>
          <p:spPr>
            <a:xfrm>
              <a:off x="9488424" y="3712464"/>
              <a:ext cx="365760" cy="365760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2" name="Ícone BsWhatsapp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570720" y="3794760"/>
              <a:ext cx="201168" cy="201168"/>
            </a:xfrm>
            <a:prstGeom prst="rect">
              <a:avLst/>
            </a:prstGeom>
          </p:spPr>
        </p:pic>
        <p:sp>
          <p:nvSpPr>
            <p:cNvPr id="933" name="Texto 933"/>
            <p:cNvSpPr txBox="1"/>
            <p:nvPr/>
          </p:nvSpPr>
          <p:spPr>
            <a:xfrm>
              <a:off x="9945624" y="3675888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WhatsApp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ativo</a:t>
              </a:r>
            </a:p>
          </p:txBody>
        </p:sp>
        <p:sp>
          <p:nvSpPr>
            <p:cNvPr id="934" name="Forma 934"/>
            <p:cNvSpPr/>
            <p:nvPr/>
          </p:nvSpPr>
          <p:spPr>
            <a:xfrm>
              <a:off x="9488424" y="4279392"/>
              <a:ext cx="365760" cy="365760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5" name="Ícone BsGlobe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70720" y="4361688"/>
              <a:ext cx="201168" cy="201168"/>
            </a:xfrm>
            <a:prstGeom prst="rect">
              <a:avLst/>
            </a:prstGeom>
          </p:spPr>
        </p:pic>
        <p:sp>
          <p:nvSpPr>
            <p:cNvPr id="936" name="Texto 936"/>
            <p:cNvSpPr txBox="1"/>
            <p:nvPr/>
          </p:nvSpPr>
          <p:spPr>
            <a:xfrm>
              <a:off x="9945624" y="4242816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Site LOSTECH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pronto, não publicado</a:t>
              </a:r>
            </a:p>
          </p:txBody>
        </p:sp>
        <p:sp>
          <p:nvSpPr>
            <p:cNvPr id="937" name="Forma 937"/>
            <p:cNvSpPr/>
            <p:nvPr/>
          </p:nvSpPr>
          <p:spPr>
            <a:xfrm>
              <a:off x="9488424" y="4846320"/>
              <a:ext cx="365760" cy="365760"/>
            </a:xfrm>
            <a:prstGeom prst="ellipse">
              <a:avLst/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8" name="Ícone BsGeoAltFill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70720" y="4928616"/>
              <a:ext cx="201168" cy="201168"/>
            </a:xfrm>
            <a:prstGeom prst="rect">
              <a:avLst/>
            </a:prstGeom>
          </p:spPr>
        </p:pic>
        <p:sp>
          <p:nvSpPr>
            <p:cNvPr id="939" name="Texto 939"/>
            <p:cNvSpPr txBox="1"/>
            <p:nvPr/>
          </p:nvSpPr>
          <p:spPr>
            <a:xfrm>
              <a:off x="9945624" y="4809744"/>
              <a:ext cx="16764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 dirty="0">
                  <a:solidFill>
                    <a:srgbClr val="F5F0FF"/>
                  </a:solidFill>
                  <a:latin typeface="Montserrat"/>
                  <a:cs typeface="Montserrat"/>
                </a:rPr>
                <a:t>Google Meu Negócio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próximo passo</a:t>
              </a:r>
            </a:p>
          </p:txBody>
        </p:sp>
        <p:sp>
          <p:nvSpPr>
            <p:cNvPr id="940" name="Texto 940"/>
            <p:cNvSpPr txBox="1"/>
            <p:nvPr/>
          </p:nvSpPr>
          <p:spPr>
            <a:xfrm>
              <a:off x="9488424" y="5422392"/>
              <a:ext cx="2115312" cy="5486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i="1" dirty="0">
                  <a:solidFill>
                    <a:srgbClr val="C9A7FF"/>
                  </a:solidFill>
                  <a:latin typeface="Montserrat"/>
                  <a:cs typeface="Montserrat"/>
                </a:rPr>
                <a:t>“Tecnologia funcionando. Você tranquilo.”</a:t>
              </a:r>
            </a:p>
          </p:txBody>
        </p:sp>
      </p:grpSp>
      <p:grpSp>
        <p:nvGrpSpPr>
          <p:cNvPr id="983" name="!!Faixa6"/>
          <p:cNvGrpSpPr/>
          <p:nvPr/>
        </p:nvGrpSpPr>
        <p:grpSpPr>
          <a:xfrm>
            <a:off x="4343400" y="9646920"/>
            <a:ext cx="7388352" cy="3218688"/>
            <a:chOff x="4343400" y="2606040"/>
            <a:chExt cx="7388352" cy="3218688"/>
          </a:xfrm>
        </p:grpSpPr>
        <p:sp>
          <p:nvSpPr>
            <p:cNvPr id="942" name="Forma 942"/>
            <p:cNvSpPr/>
            <p:nvPr/>
          </p:nvSpPr>
          <p:spPr>
            <a:xfrm>
              <a:off x="4343400" y="2606040"/>
              <a:ext cx="7388352" cy="1298448"/>
            </a:xfrm>
            <a:prstGeom prst="roundRect">
              <a:avLst>
                <a:gd name="adj" fmla="val 845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Texto 943"/>
            <p:cNvSpPr txBox="1"/>
            <p:nvPr/>
          </p:nvSpPr>
          <p:spPr>
            <a:xfrm>
              <a:off x="4526280" y="2697480"/>
              <a:ext cx="702259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Catálogo de hardware · 6 etapas</a:t>
              </a:r>
            </a:p>
          </p:txBody>
        </p:sp>
        <p:cxnSp>
          <p:nvCxnSpPr>
            <p:cNvPr id="944" name="Conector 944"/>
            <p:cNvCxnSpPr/>
            <p:nvPr/>
          </p:nvCxnSpPr>
          <p:spPr>
            <a:xfrm>
              <a:off x="4983480" y="3209544"/>
              <a:ext cx="6108192" cy="0"/>
            </a:xfrm>
            <a:prstGeom prst="line">
              <a:avLst/>
            </a:prstGeom>
            <a:ln w="25400">
              <a:solidFill>
                <a:srgbClr val="3A2A5C"/>
              </a:solidFill>
            </a:ln>
          </p:spPr>
        </p:cxnSp>
        <p:sp>
          <p:nvSpPr>
            <p:cNvPr id="945" name="Forma 945"/>
            <p:cNvSpPr/>
            <p:nvPr/>
          </p:nvSpPr>
          <p:spPr>
            <a:xfrm>
              <a:off x="4809744" y="3035808"/>
              <a:ext cx="347472" cy="347472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6" name="Ícone BsCheckL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82896" y="3108960"/>
              <a:ext cx="201168" cy="201168"/>
            </a:xfrm>
            <a:prstGeom prst="rect">
              <a:avLst/>
            </a:prstGeom>
          </p:spPr>
        </p:pic>
        <p:sp>
          <p:nvSpPr>
            <p:cNvPr id="947" name="Texto 947"/>
            <p:cNvSpPr txBox="1"/>
            <p:nvPr/>
          </p:nvSpPr>
          <p:spPr>
            <a:xfrm>
              <a:off x="4400093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F5F0FF"/>
                  </a:solidFill>
                  <a:latin typeface="Montserrat"/>
                  <a:cs typeface="Montserrat"/>
                </a:rPr>
                <a:t>Requisitos</a:t>
              </a:r>
            </a:p>
          </p:txBody>
        </p:sp>
        <p:sp>
          <p:nvSpPr>
            <p:cNvPr id="948" name="Forma 948"/>
            <p:cNvSpPr/>
            <p:nvPr/>
          </p:nvSpPr>
          <p:spPr>
            <a:xfrm>
              <a:off x="6031382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FF2E97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949" name="Texto 949"/>
            <p:cNvSpPr txBox="1"/>
            <p:nvPr/>
          </p:nvSpPr>
          <p:spPr>
            <a:xfrm>
              <a:off x="5621731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Diagrama ER</a:t>
              </a:r>
            </a:p>
          </p:txBody>
        </p:sp>
        <p:sp>
          <p:nvSpPr>
            <p:cNvPr id="950" name="Forma 950"/>
            <p:cNvSpPr/>
            <p:nvPr/>
          </p:nvSpPr>
          <p:spPr>
            <a:xfrm>
              <a:off x="7253021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3</a:t>
              </a:r>
            </a:p>
          </p:txBody>
        </p:sp>
        <p:sp>
          <p:nvSpPr>
            <p:cNvPr id="951" name="Texto 951"/>
            <p:cNvSpPr txBox="1"/>
            <p:nvPr/>
          </p:nvSpPr>
          <p:spPr>
            <a:xfrm>
              <a:off x="6843370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Dicionário de dados</a:t>
              </a:r>
            </a:p>
          </p:txBody>
        </p:sp>
        <p:sp>
          <p:nvSpPr>
            <p:cNvPr id="952" name="Forma 952"/>
            <p:cNvSpPr/>
            <p:nvPr/>
          </p:nvSpPr>
          <p:spPr>
            <a:xfrm>
              <a:off x="8474659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4</a:t>
              </a:r>
            </a:p>
          </p:txBody>
        </p:sp>
        <p:sp>
          <p:nvSpPr>
            <p:cNvPr id="953" name="Texto 953"/>
            <p:cNvSpPr txBox="1"/>
            <p:nvPr/>
          </p:nvSpPr>
          <p:spPr>
            <a:xfrm>
              <a:off x="8065008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Esquema lógico</a:t>
              </a:r>
            </a:p>
          </p:txBody>
        </p:sp>
        <p:sp>
          <p:nvSpPr>
            <p:cNvPr id="954" name="Forma 954"/>
            <p:cNvSpPr/>
            <p:nvPr/>
          </p:nvSpPr>
          <p:spPr>
            <a:xfrm>
              <a:off x="9696298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5</a:t>
              </a:r>
            </a:p>
          </p:txBody>
        </p:sp>
        <p:sp>
          <p:nvSpPr>
            <p:cNvPr id="955" name="Texto 955"/>
            <p:cNvSpPr txBox="1"/>
            <p:nvPr/>
          </p:nvSpPr>
          <p:spPr>
            <a:xfrm>
              <a:off x="9286646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DDL em SQL</a:t>
              </a:r>
            </a:p>
          </p:txBody>
        </p:sp>
        <p:sp>
          <p:nvSpPr>
            <p:cNvPr id="956" name="Forma 956"/>
            <p:cNvSpPr/>
            <p:nvPr/>
          </p:nvSpPr>
          <p:spPr>
            <a:xfrm>
              <a:off x="10917936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957" name="Texto 957"/>
            <p:cNvSpPr txBox="1"/>
            <p:nvPr/>
          </p:nvSpPr>
          <p:spPr>
            <a:xfrm>
              <a:off x="10508285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Dados e testes</a:t>
              </a:r>
            </a:p>
          </p:txBody>
        </p:sp>
        <p:sp>
          <p:nvSpPr>
            <p:cNvPr id="958" name="Forma 958"/>
            <p:cNvSpPr/>
            <p:nvPr/>
          </p:nvSpPr>
          <p:spPr>
            <a:xfrm>
              <a:off x="4343400" y="4023360"/>
              <a:ext cx="7388352" cy="1298448"/>
            </a:xfrm>
            <a:prstGeom prst="roundRect">
              <a:avLst>
                <a:gd name="adj" fmla="val 845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Texto 959"/>
            <p:cNvSpPr txBox="1"/>
            <p:nvPr/>
          </p:nvSpPr>
          <p:spPr>
            <a:xfrm>
              <a:off x="4526280" y="4114800"/>
              <a:ext cx="702259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· 7 fases</a:t>
              </a:r>
            </a:p>
          </p:txBody>
        </p:sp>
        <p:cxnSp>
          <p:nvCxnSpPr>
            <p:cNvPr id="960" name="Conector 960"/>
            <p:cNvCxnSpPr/>
            <p:nvPr/>
          </p:nvCxnSpPr>
          <p:spPr>
            <a:xfrm>
              <a:off x="4983480" y="4626864"/>
              <a:ext cx="6108192" cy="0"/>
            </a:xfrm>
            <a:prstGeom prst="line">
              <a:avLst/>
            </a:prstGeom>
            <a:ln w="25400">
              <a:solidFill>
                <a:srgbClr val="3A2A5C"/>
              </a:solidFill>
            </a:ln>
          </p:spPr>
        </p:cxnSp>
        <p:sp>
          <p:nvSpPr>
            <p:cNvPr id="961" name="Forma 961"/>
            <p:cNvSpPr/>
            <p:nvPr/>
          </p:nvSpPr>
          <p:spPr>
            <a:xfrm>
              <a:off x="4809744" y="4453128"/>
              <a:ext cx="347472" cy="347472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2" name="Ícone BsCheckL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82896" y="4526280"/>
              <a:ext cx="201168" cy="201168"/>
            </a:xfrm>
            <a:prstGeom prst="rect">
              <a:avLst/>
            </a:prstGeom>
          </p:spPr>
        </p:pic>
        <p:sp>
          <p:nvSpPr>
            <p:cNvPr id="963" name="Texto 963"/>
            <p:cNvSpPr txBox="1"/>
            <p:nvPr/>
          </p:nvSpPr>
          <p:spPr>
            <a:xfrm>
              <a:off x="4501896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F5F0FF"/>
                  </a:solidFill>
                  <a:latin typeface="Montserrat"/>
                  <a:cs typeface="Montserrat"/>
                </a:rPr>
                <a:t>Contenção</a:t>
              </a:r>
            </a:p>
          </p:txBody>
        </p:sp>
        <p:sp>
          <p:nvSpPr>
            <p:cNvPr id="964" name="Forma 964"/>
            <p:cNvSpPr/>
            <p:nvPr/>
          </p:nvSpPr>
          <p:spPr>
            <a:xfrm>
              <a:off x="5827776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FF2E97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965" name="Texto 965"/>
            <p:cNvSpPr txBox="1"/>
            <p:nvPr/>
          </p:nvSpPr>
          <p:spPr>
            <a:xfrm>
              <a:off x="5519928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Fundação</a:t>
              </a:r>
            </a:p>
          </p:txBody>
        </p:sp>
        <p:sp>
          <p:nvSpPr>
            <p:cNvPr id="966" name="Forma 966"/>
            <p:cNvSpPr/>
            <p:nvPr/>
          </p:nvSpPr>
          <p:spPr>
            <a:xfrm>
              <a:off x="6845808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967" name="Texto 967"/>
            <p:cNvSpPr txBox="1"/>
            <p:nvPr/>
          </p:nvSpPr>
          <p:spPr>
            <a:xfrm>
              <a:off x="6537960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Licenças e versões</a:t>
              </a:r>
            </a:p>
          </p:txBody>
        </p:sp>
        <p:sp>
          <p:nvSpPr>
            <p:cNvPr id="968" name="Forma 968"/>
            <p:cNvSpPr/>
            <p:nvPr/>
          </p:nvSpPr>
          <p:spPr>
            <a:xfrm>
              <a:off x="7863840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3</a:t>
              </a:r>
            </a:p>
          </p:txBody>
        </p:sp>
        <p:sp>
          <p:nvSpPr>
            <p:cNvPr id="969" name="Texto 969"/>
            <p:cNvSpPr txBox="1"/>
            <p:nvPr/>
          </p:nvSpPr>
          <p:spPr>
            <a:xfrm>
              <a:off x="7555992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Pagamentos</a:t>
              </a:r>
            </a:p>
          </p:txBody>
        </p:sp>
        <p:sp>
          <p:nvSpPr>
            <p:cNvPr id="970" name="Forma 970"/>
            <p:cNvSpPr/>
            <p:nvPr/>
          </p:nvSpPr>
          <p:spPr>
            <a:xfrm>
              <a:off x="8881872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4</a:t>
              </a:r>
            </a:p>
          </p:txBody>
        </p:sp>
        <p:sp>
          <p:nvSpPr>
            <p:cNvPr id="971" name="Texto 971"/>
            <p:cNvSpPr txBox="1"/>
            <p:nvPr/>
          </p:nvSpPr>
          <p:spPr>
            <a:xfrm>
              <a:off x="8574024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Painéis</a:t>
              </a:r>
            </a:p>
          </p:txBody>
        </p:sp>
        <p:sp>
          <p:nvSpPr>
            <p:cNvPr id="972" name="Forma 972"/>
            <p:cNvSpPr/>
            <p:nvPr/>
          </p:nvSpPr>
          <p:spPr>
            <a:xfrm>
              <a:off x="9899904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5</a:t>
              </a:r>
            </a:p>
          </p:txBody>
        </p:sp>
        <p:sp>
          <p:nvSpPr>
            <p:cNvPr id="973" name="Texto 973"/>
            <p:cNvSpPr txBox="1"/>
            <p:nvPr/>
          </p:nvSpPr>
          <p:spPr>
            <a:xfrm>
              <a:off x="9592056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Produção</a:t>
              </a:r>
            </a:p>
          </p:txBody>
        </p:sp>
        <p:sp>
          <p:nvSpPr>
            <p:cNvPr id="974" name="Forma 974"/>
            <p:cNvSpPr/>
            <p:nvPr/>
          </p:nvSpPr>
          <p:spPr>
            <a:xfrm>
              <a:off x="10917936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975" name="Texto 975"/>
            <p:cNvSpPr txBox="1"/>
            <p:nvPr/>
          </p:nvSpPr>
          <p:spPr>
            <a:xfrm>
              <a:off x="10610088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Lançamento</a:t>
              </a:r>
            </a:p>
          </p:txBody>
        </p:sp>
        <p:sp>
          <p:nvSpPr>
            <p:cNvPr id="976" name="Forma 976"/>
            <p:cNvSpPr/>
            <p:nvPr/>
          </p:nvSpPr>
          <p:spPr>
            <a:xfrm>
              <a:off x="4343400" y="5458968"/>
              <a:ext cx="1124712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PostgreSQL</a:t>
              </a:r>
            </a:p>
          </p:txBody>
        </p:sp>
        <p:sp>
          <p:nvSpPr>
            <p:cNvPr id="977" name="Forma 977"/>
            <p:cNvSpPr/>
            <p:nvPr/>
          </p:nvSpPr>
          <p:spPr>
            <a:xfrm>
              <a:off x="5541264" y="5458968"/>
              <a:ext cx="769925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NestJS</a:t>
              </a:r>
            </a:p>
          </p:txBody>
        </p:sp>
        <p:sp>
          <p:nvSpPr>
            <p:cNvPr id="978" name="Forma 978"/>
            <p:cNvSpPr/>
            <p:nvPr/>
          </p:nvSpPr>
          <p:spPr>
            <a:xfrm>
              <a:off x="6384341" y="5458968"/>
              <a:ext cx="769925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Prisma</a:t>
              </a:r>
            </a:p>
          </p:txBody>
        </p:sp>
        <p:sp>
          <p:nvSpPr>
            <p:cNvPr id="979" name="Forma 979"/>
            <p:cNvSpPr/>
            <p:nvPr/>
          </p:nvSpPr>
          <p:spPr>
            <a:xfrm>
              <a:off x="7227418" y="5458968"/>
              <a:ext cx="1124712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TypeScript</a:t>
              </a:r>
            </a:p>
          </p:txBody>
        </p:sp>
        <p:sp>
          <p:nvSpPr>
            <p:cNvPr id="980" name="Forma 980"/>
            <p:cNvSpPr/>
            <p:nvPr/>
          </p:nvSpPr>
          <p:spPr>
            <a:xfrm>
              <a:off x="8425282" y="5458968"/>
              <a:ext cx="947318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Electron</a:t>
              </a:r>
            </a:p>
          </p:txBody>
        </p:sp>
        <p:sp>
          <p:nvSpPr>
            <p:cNvPr id="981" name="Forma 981"/>
            <p:cNvSpPr/>
            <p:nvPr/>
          </p:nvSpPr>
          <p:spPr>
            <a:xfrm>
              <a:off x="9445752" y="5458968"/>
              <a:ext cx="1479499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Docker Compose</a:t>
              </a:r>
            </a:p>
          </p:txBody>
        </p:sp>
        <p:sp>
          <p:nvSpPr>
            <p:cNvPr id="982" name="Forma 982"/>
            <p:cNvSpPr/>
            <p:nvPr/>
          </p:nvSpPr>
          <p:spPr>
            <a:xfrm>
              <a:off x="10998403" y="5458968"/>
              <a:ext cx="503834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Git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20534110">
            <a:off x="2650373" y="1153579"/>
            <a:ext cx="1224877" cy="261747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2138482">
            <a:off x="1958903" y="3362996"/>
            <a:ext cx="886132" cy="1880822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5350061">
            <a:off x="651992" y="4222805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8619554">
            <a:off x="-843862" y="3735621"/>
            <a:ext cx="988046" cy="1861085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11835389">
            <a:off x="-1441597" y="2320582"/>
            <a:ext cx="1040921" cy="1848259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14418881">
            <a:off x="-588490" y="922633"/>
            <a:ext cx="931683" cy="1883012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18091910">
            <a:off x="863351" y="732149"/>
            <a:ext cx="1049351" cy="1838435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2" y="3213483"/>
            <a:ext cx="2202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  <a:p>
            <a:pPr algn="ctr"/>
            <a:endParaRPr lang="pt-BR" sz="32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1" name="!!Titulo"/>
          <p:cNvSpPr txBox="1"/>
          <p:nvPr/>
        </p:nvSpPr>
        <p:spPr>
          <a:xfrm>
            <a:off x="4343400" y="347472"/>
            <a:ext cx="7388352" cy="1207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5F0FF"/>
                </a:solidFill>
                <a:latin typeface="Montserrat"/>
                <a:cs typeface="Montserrat"/>
              </a:rPr>
              <a:t>ESTRUTURA DE DESENVOLVIMENTO</a:t>
            </a:r>
          </a:p>
        </p:txBody>
      </p:sp>
      <p:sp>
        <p:nvSpPr>
          <p:cNvPr id="902" name="!!Texto"/>
          <p:cNvSpPr txBox="1"/>
          <p:nvPr/>
        </p:nvSpPr>
        <p:spPr>
          <a:xfrm>
            <a:off x="4343400" y="1645920"/>
            <a:ext cx="7022592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BDB0D6"/>
                </a:solidFill>
                <a:latin typeface="Montserrat"/>
                <a:cs typeface="Montserrat"/>
              </a:rPr>
              <a:t>Incremental: proposta, aprovação e registro a cada etapa.</a:t>
            </a:r>
          </a:p>
        </p:txBody>
      </p:sp>
      <p:grpSp>
        <p:nvGrpSpPr>
          <p:cNvPr id="944" name="!!Faixa6"/>
          <p:cNvGrpSpPr/>
          <p:nvPr/>
        </p:nvGrpSpPr>
        <p:grpSpPr>
          <a:xfrm>
            <a:off x="4343400" y="2606040"/>
            <a:ext cx="7388352" cy="3218688"/>
            <a:chOff x="4343400" y="2606040"/>
            <a:chExt cx="7388352" cy="3218688"/>
          </a:xfrm>
        </p:grpSpPr>
        <p:sp>
          <p:nvSpPr>
            <p:cNvPr id="903" name="Forma 903"/>
            <p:cNvSpPr/>
            <p:nvPr/>
          </p:nvSpPr>
          <p:spPr>
            <a:xfrm>
              <a:off x="4343400" y="2606040"/>
              <a:ext cx="7388352" cy="1298448"/>
            </a:xfrm>
            <a:prstGeom prst="roundRect">
              <a:avLst>
                <a:gd name="adj" fmla="val 845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Texto 904"/>
            <p:cNvSpPr txBox="1"/>
            <p:nvPr/>
          </p:nvSpPr>
          <p:spPr>
            <a:xfrm>
              <a:off x="4526280" y="2697480"/>
              <a:ext cx="702259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Catálogo de hardware · 6 etapas</a:t>
              </a:r>
            </a:p>
          </p:txBody>
        </p:sp>
        <p:cxnSp>
          <p:nvCxnSpPr>
            <p:cNvPr id="905" name="Conector 905"/>
            <p:cNvCxnSpPr/>
            <p:nvPr/>
          </p:nvCxnSpPr>
          <p:spPr>
            <a:xfrm>
              <a:off x="4983480" y="3209544"/>
              <a:ext cx="6108192" cy="0"/>
            </a:xfrm>
            <a:prstGeom prst="line">
              <a:avLst/>
            </a:prstGeom>
            <a:ln w="25400">
              <a:solidFill>
                <a:srgbClr val="3A2A5C"/>
              </a:solidFill>
            </a:ln>
          </p:spPr>
        </p:cxnSp>
        <p:sp>
          <p:nvSpPr>
            <p:cNvPr id="906" name="Forma 906"/>
            <p:cNvSpPr/>
            <p:nvPr/>
          </p:nvSpPr>
          <p:spPr>
            <a:xfrm>
              <a:off x="4809744" y="3035808"/>
              <a:ext cx="347472" cy="347472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07" name="Ícone BsCheckL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82896" y="3108960"/>
              <a:ext cx="201168" cy="201168"/>
            </a:xfrm>
            <a:prstGeom prst="rect">
              <a:avLst/>
            </a:prstGeom>
          </p:spPr>
        </p:pic>
        <p:sp>
          <p:nvSpPr>
            <p:cNvPr id="908" name="Texto 908"/>
            <p:cNvSpPr txBox="1"/>
            <p:nvPr/>
          </p:nvSpPr>
          <p:spPr>
            <a:xfrm>
              <a:off x="4400093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F5F0FF"/>
                  </a:solidFill>
                  <a:latin typeface="Montserrat"/>
                  <a:cs typeface="Montserrat"/>
                </a:rPr>
                <a:t>Requisitos</a:t>
              </a:r>
            </a:p>
          </p:txBody>
        </p:sp>
        <p:sp>
          <p:nvSpPr>
            <p:cNvPr id="909" name="Forma 909"/>
            <p:cNvSpPr/>
            <p:nvPr/>
          </p:nvSpPr>
          <p:spPr>
            <a:xfrm>
              <a:off x="6031382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FF2E97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910" name="Texto 910"/>
            <p:cNvSpPr txBox="1"/>
            <p:nvPr/>
          </p:nvSpPr>
          <p:spPr>
            <a:xfrm>
              <a:off x="5621731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Diagrama ER</a:t>
              </a:r>
            </a:p>
          </p:txBody>
        </p:sp>
        <p:sp>
          <p:nvSpPr>
            <p:cNvPr id="911" name="Forma 911"/>
            <p:cNvSpPr/>
            <p:nvPr/>
          </p:nvSpPr>
          <p:spPr>
            <a:xfrm>
              <a:off x="7253021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3</a:t>
              </a:r>
            </a:p>
          </p:txBody>
        </p:sp>
        <p:sp>
          <p:nvSpPr>
            <p:cNvPr id="912" name="Texto 912"/>
            <p:cNvSpPr txBox="1"/>
            <p:nvPr/>
          </p:nvSpPr>
          <p:spPr>
            <a:xfrm>
              <a:off x="6843370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Dicionário de dados</a:t>
              </a:r>
            </a:p>
          </p:txBody>
        </p:sp>
        <p:sp>
          <p:nvSpPr>
            <p:cNvPr id="913" name="Forma 913"/>
            <p:cNvSpPr/>
            <p:nvPr/>
          </p:nvSpPr>
          <p:spPr>
            <a:xfrm>
              <a:off x="8474659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4</a:t>
              </a:r>
            </a:p>
          </p:txBody>
        </p:sp>
        <p:sp>
          <p:nvSpPr>
            <p:cNvPr id="914" name="Texto 914"/>
            <p:cNvSpPr txBox="1"/>
            <p:nvPr/>
          </p:nvSpPr>
          <p:spPr>
            <a:xfrm>
              <a:off x="8065008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Esquema lógico</a:t>
              </a:r>
            </a:p>
          </p:txBody>
        </p:sp>
        <p:sp>
          <p:nvSpPr>
            <p:cNvPr id="915" name="Forma 915"/>
            <p:cNvSpPr/>
            <p:nvPr/>
          </p:nvSpPr>
          <p:spPr>
            <a:xfrm>
              <a:off x="9696298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5</a:t>
              </a:r>
            </a:p>
          </p:txBody>
        </p:sp>
        <p:sp>
          <p:nvSpPr>
            <p:cNvPr id="916" name="Texto 916"/>
            <p:cNvSpPr txBox="1"/>
            <p:nvPr/>
          </p:nvSpPr>
          <p:spPr>
            <a:xfrm>
              <a:off x="9286646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DDL em SQL</a:t>
              </a:r>
            </a:p>
          </p:txBody>
        </p:sp>
        <p:sp>
          <p:nvSpPr>
            <p:cNvPr id="917" name="Forma 917"/>
            <p:cNvSpPr/>
            <p:nvPr/>
          </p:nvSpPr>
          <p:spPr>
            <a:xfrm>
              <a:off x="10917936" y="303580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918" name="Texto 918"/>
            <p:cNvSpPr txBox="1"/>
            <p:nvPr/>
          </p:nvSpPr>
          <p:spPr>
            <a:xfrm>
              <a:off x="10508285" y="3429000"/>
              <a:ext cx="1166774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Dados e testes</a:t>
              </a:r>
            </a:p>
          </p:txBody>
        </p:sp>
        <p:sp>
          <p:nvSpPr>
            <p:cNvPr id="919" name="Forma 919"/>
            <p:cNvSpPr/>
            <p:nvPr/>
          </p:nvSpPr>
          <p:spPr>
            <a:xfrm>
              <a:off x="4343400" y="4023360"/>
              <a:ext cx="7388352" cy="1298448"/>
            </a:xfrm>
            <a:prstGeom prst="roundRect">
              <a:avLst>
                <a:gd name="adj" fmla="val 8450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Texto 920"/>
            <p:cNvSpPr txBox="1"/>
            <p:nvPr/>
          </p:nvSpPr>
          <p:spPr>
            <a:xfrm>
              <a:off x="4526280" y="4114800"/>
              <a:ext cx="7022592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LUMEN · 7 fases</a:t>
              </a:r>
            </a:p>
          </p:txBody>
        </p:sp>
        <p:cxnSp>
          <p:nvCxnSpPr>
            <p:cNvPr id="921" name="Conector 921"/>
            <p:cNvCxnSpPr/>
            <p:nvPr/>
          </p:nvCxnSpPr>
          <p:spPr>
            <a:xfrm>
              <a:off x="4983480" y="4626864"/>
              <a:ext cx="6108192" cy="0"/>
            </a:xfrm>
            <a:prstGeom prst="line">
              <a:avLst/>
            </a:prstGeom>
            <a:ln w="25400">
              <a:solidFill>
                <a:srgbClr val="3A2A5C"/>
              </a:solidFill>
            </a:ln>
          </p:spPr>
        </p:cxnSp>
        <p:sp>
          <p:nvSpPr>
            <p:cNvPr id="922" name="Forma 922"/>
            <p:cNvSpPr/>
            <p:nvPr/>
          </p:nvSpPr>
          <p:spPr>
            <a:xfrm>
              <a:off x="4809744" y="4453128"/>
              <a:ext cx="347472" cy="347472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3" name="Ícone BsCheckL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82896" y="4526280"/>
              <a:ext cx="201168" cy="201168"/>
            </a:xfrm>
            <a:prstGeom prst="rect">
              <a:avLst/>
            </a:prstGeom>
          </p:spPr>
        </p:pic>
        <p:sp>
          <p:nvSpPr>
            <p:cNvPr id="924" name="Texto 924"/>
            <p:cNvSpPr txBox="1"/>
            <p:nvPr/>
          </p:nvSpPr>
          <p:spPr>
            <a:xfrm>
              <a:off x="4501896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F5F0FF"/>
                  </a:solidFill>
                  <a:latin typeface="Montserrat"/>
                  <a:cs typeface="Montserrat"/>
                </a:rPr>
                <a:t>Contenção</a:t>
              </a:r>
            </a:p>
          </p:txBody>
        </p:sp>
        <p:sp>
          <p:nvSpPr>
            <p:cNvPr id="925" name="Forma 925"/>
            <p:cNvSpPr/>
            <p:nvPr/>
          </p:nvSpPr>
          <p:spPr>
            <a:xfrm>
              <a:off x="5827776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FF2E97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926" name="Texto 926"/>
            <p:cNvSpPr txBox="1"/>
            <p:nvPr/>
          </p:nvSpPr>
          <p:spPr>
            <a:xfrm>
              <a:off x="5519928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F5F0FF"/>
                  </a:solidFill>
                  <a:latin typeface="Montserrat"/>
                  <a:cs typeface="Montserrat"/>
                </a:rPr>
                <a:t>Fundação</a:t>
              </a:r>
            </a:p>
          </p:txBody>
        </p:sp>
        <p:sp>
          <p:nvSpPr>
            <p:cNvPr id="927" name="Forma 927"/>
            <p:cNvSpPr/>
            <p:nvPr/>
          </p:nvSpPr>
          <p:spPr>
            <a:xfrm>
              <a:off x="6845808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928" name="Texto 928"/>
            <p:cNvSpPr txBox="1"/>
            <p:nvPr/>
          </p:nvSpPr>
          <p:spPr>
            <a:xfrm>
              <a:off x="6537960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Licenças e versões</a:t>
              </a:r>
            </a:p>
          </p:txBody>
        </p:sp>
        <p:sp>
          <p:nvSpPr>
            <p:cNvPr id="929" name="Forma 929"/>
            <p:cNvSpPr/>
            <p:nvPr/>
          </p:nvSpPr>
          <p:spPr>
            <a:xfrm>
              <a:off x="7863840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3</a:t>
              </a:r>
            </a:p>
          </p:txBody>
        </p:sp>
        <p:sp>
          <p:nvSpPr>
            <p:cNvPr id="930" name="Texto 930"/>
            <p:cNvSpPr txBox="1"/>
            <p:nvPr/>
          </p:nvSpPr>
          <p:spPr>
            <a:xfrm>
              <a:off x="7555992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Pagamentos</a:t>
              </a:r>
            </a:p>
          </p:txBody>
        </p:sp>
        <p:sp>
          <p:nvSpPr>
            <p:cNvPr id="931" name="Forma 931"/>
            <p:cNvSpPr/>
            <p:nvPr/>
          </p:nvSpPr>
          <p:spPr>
            <a:xfrm>
              <a:off x="8881872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4</a:t>
              </a:r>
            </a:p>
          </p:txBody>
        </p:sp>
        <p:sp>
          <p:nvSpPr>
            <p:cNvPr id="932" name="Texto 932"/>
            <p:cNvSpPr txBox="1"/>
            <p:nvPr/>
          </p:nvSpPr>
          <p:spPr>
            <a:xfrm>
              <a:off x="8574024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Painéis</a:t>
              </a:r>
            </a:p>
          </p:txBody>
        </p:sp>
        <p:sp>
          <p:nvSpPr>
            <p:cNvPr id="933" name="Forma 933"/>
            <p:cNvSpPr/>
            <p:nvPr/>
          </p:nvSpPr>
          <p:spPr>
            <a:xfrm>
              <a:off x="9899904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5</a:t>
              </a:r>
            </a:p>
          </p:txBody>
        </p:sp>
        <p:sp>
          <p:nvSpPr>
            <p:cNvPr id="934" name="Texto 934"/>
            <p:cNvSpPr txBox="1"/>
            <p:nvPr/>
          </p:nvSpPr>
          <p:spPr>
            <a:xfrm>
              <a:off x="9592056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Produção</a:t>
              </a:r>
            </a:p>
          </p:txBody>
        </p:sp>
        <p:sp>
          <p:nvSpPr>
            <p:cNvPr id="935" name="Forma 935"/>
            <p:cNvSpPr/>
            <p:nvPr/>
          </p:nvSpPr>
          <p:spPr>
            <a:xfrm>
              <a:off x="10917936" y="4453128"/>
              <a:ext cx="347472" cy="347472"/>
            </a:xfrm>
            <a:prstGeom prst="ellipse">
              <a:avLst/>
            </a:prstGeom>
            <a:solidFill>
              <a:srgbClr val="221639"/>
            </a:solidFill>
            <a:ln w="19050">
              <a:solidFill>
                <a:srgbClr val="3A2A5C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BDB0D6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936" name="Texto 936"/>
            <p:cNvSpPr txBox="1"/>
            <p:nvPr/>
          </p:nvSpPr>
          <p:spPr>
            <a:xfrm>
              <a:off x="10610088" y="4846320"/>
              <a:ext cx="963168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dirty="0">
                  <a:solidFill>
                    <a:srgbClr val="BDB0D6"/>
                  </a:solidFill>
                  <a:latin typeface="Montserrat"/>
                  <a:cs typeface="Montserrat"/>
                </a:rPr>
                <a:t>Lançamento</a:t>
              </a:r>
            </a:p>
          </p:txBody>
        </p:sp>
        <p:sp>
          <p:nvSpPr>
            <p:cNvPr id="937" name="Forma 937"/>
            <p:cNvSpPr/>
            <p:nvPr/>
          </p:nvSpPr>
          <p:spPr>
            <a:xfrm>
              <a:off x="4343400" y="5458968"/>
              <a:ext cx="1124712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PostgreSQL</a:t>
              </a:r>
            </a:p>
          </p:txBody>
        </p:sp>
        <p:sp>
          <p:nvSpPr>
            <p:cNvPr id="938" name="Forma 938"/>
            <p:cNvSpPr/>
            <p:nvPr/>
          </p:nvSpPr>
          <p:spPr>
            <a:xfrm>
              <a:off x="5541264" y="5458968"/>
              <a:ext cx="769925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NestJS</a:t>
              </a:r>
            </a:p>
          </p:txBody>
        </p:sp>
        <p:sp>
          <p:nvSpPr>
            <p:cNvPr id="939" name="Forma 939"/>
            <p:cNvSpPr/>
            <p:nvPr/>
          </p:nvSpPr>
          <p:spPr>
            <a:xfrm>
              <a:off x="6384341" y="5458968"/>
              <a:ext cx="769925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Prisma</a:t>
              </a:r>
            </a:p>
          </p:txBody>
        </p:sp>
        <p:sp>
          <p:nvSpPr>
            <p:cNvPr id="940" name="Forma 940"/>
            <p:cNvSpPr/>
            <p:nvPr/>
          </p:nvSpPr>
          <p:spPr>
            <a:xfrm>
              <a:off x="7227418" y="5458968"/>
              <a:ext cx="1124712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TypeScript</a:t>
              </a:r>
            </a:p>
          </p:txBody>
        </p:sp>
        <p:sp>
          <p:nvSpPr>
            <p:cNvPr id="941" name="Forma 941"/>
            <p:cNvSpPr/>
            <p:nvPr/>
          </p:nvSpPr>
          <p:spPr>
            <a:xfrm>
              <a:off x="8425282" y="5458968"/>
              <a:ext cx="947318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Electron</a:t>
              </a:r>
            </a:p>
          </p:txBody>
        </p:sp>
        <p:sp>
          <p:nvSpPr>
            <p:cNvPr id="942" name="Forma 942"/>
            <p:cNvSpPr/>
            <p:nvPr/>
          </p:nvSpPr>
          <p:spPr>
            <a:xfrm>
              <a:off x="9445752" y="5458968"/>
              <a:ext cx="1479499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Docker Compose</a:t>
              </a:r>
            </a:p>
          </p:txBody>
        </p:sp>
        <p:sp>
          <p:nvSpPr>
            <p:cNvPr id="943" name="Forma 943"/>
            <p:cNvSpPr/>
            <p:nvPr/>
          </p:nvSpPr>
          <p:spPr>
            <a:xfrm>
              <a:off x="10998403" y="5458968"/>
              <a:ext cx="503834" cy="365760"/>
            </a:xfrm>
            <a:prstGeom prst="roundRect">
              <a:avLst>
                <a:gd name="adj" fmla="val 50000"/>
              </a:avLst>
            </a:prstGeom>
            <a:solidFill>
              <a:srgbClr val="221639"/>
            </a:solidFill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1" dirty="0">
                  <a:solidFill>
                    <a:srgbClr val="C9A7FF"/>
                  </a:solidFill>
                  <a:latin typeface="Montserrat"/>
                  <a:cs typeface="Montserrat"/>
                </a:rPr>
                <a:t>Git</a:t>
              </a:r>
            </a:p>
          </p:txBody>
        </p:sp>
      </p:grpSp>
      <p:grpSp>
        <p:nvGrpSpPr>
          <p:cNvPr id="961" name="!!Faixa7"/>
          <p:cNvGrpSpPr/>
          <p:nvPr/>
        </p:nvGrpSpPr>
        <p:grpSpPr>
          <a:xfrm>
            <a:off x="4343400" y="9646920"/>
            <a:ext cx="7388352" cy="3383280"/>
            <a:chOff x="4343400" y="2606040"/>
            <a:chExt cx="7388352" cy="3383280"/>
          </a:xfrm>
        </p:grpSpPr>
        <p:sp>
          <p:nvSpPr>
            <p:cNvPr id="945" name="Forma 945"/>
            <p:cNvSpPr/>
            <p:nvPr/>
          </p:nvSpPr>
          <p:spPr>
            <a:xfrm>
              <a:off x="4343400" y="2606040"/>
              <a:ext cx="2389632" cy="269748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orma 946"/>
            <p:cNvSpPr/>
            <p:nvPr/>
          </p:nvSpPr>
          <p:spPr>
            <a:xfrm>
              <a:off x="4507992" y="2788920"/>
              <a:ext cx="475488" cy="475488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7" name="Ícone BsBoxSeam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14977" y="2895905"/>
              <a:ext cx="261518" cy="261518"/>
            </a:xfrm>
            <a:prstGeom prst="rect">
              <a:avLst/>
            </a:prstGeom>
          </p:spPr>
        </p:pic>
        <p:sp>
          <p:nvSpPr>
            <p:cNvPr id="948" name="Texto 948"/>
            <p:cNvSpPr txBox="1"/>
            <p:nvPr/>
          </p:nvSpPr>
          <p:spPr>
            <a:xfrm>
              <a:off x="4507992" y="3383280"/>
              <a:ext cx="208788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O que já temos</a:t>
              </a:r>
            </a:p>
          </p:txBody>
        </p:sp>
        <p:sp>
          <p:nvSpPr>
            <p:cNvPr id="949" name="Texto 949"/>
            <p:cNvSpPr txBox="1"/>
            <p:nvPr/>
          </p:nvSpPr>
          <p:spPr>
            <a:xfrm>
              <a:off x="4507992" y="3721608"/>
              <a:ext cx="2087880" cy="150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Núcleo do LUMEN funcionando, riscos críticos contidos, requisitos do catálogo e BPMN definidos.</a:t>
              </a:r>
            </a:p>
          </p:txBody>
        </p:sp>
        <p:sp>
          <p:nvSpPr>
            <p:cNvPr id="950" name="Forma 950"/>
            <p:cNvSpPr/>
            <p:nvPr/>
          </p:nvSpPr>
          <p:spPr>
            <a:xfrm>
              <a:off x="6842760" y="2606040"/>
              <a:ext cx="2389632" cy="269748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orma 951"/>
            <p:cNvSpPr/>
            <p:nvPr/>
          </p:nvSpPr>
          <p:spPr>
            <a:xfrm>
              <a:off x="7007352" y="2788920"/>
              <a:ext cx="475488" cy="475488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2" name="Ícone BsArrowRepeat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14337" y="2895905"/>
              <a:ext cx="261518" cy="261518"/>
            </a:xfrm>
            <a:prstGeom prst="rect">
              <a:avLst/>
            </a:prstGeom>
          </p:spPr>
        </p:pic>
        <p:sp>
          <p:nvSpPr>
            <p:cNvPr id="953" name="Texto 953"/>
            <p:cNvSpPr txBox="1"/>
            <p:nvPr/>
          </p:nvSpPr>
          <p:spPr>
            <a:xfrm>
              <a:off x="7007352" y="3383280"/>
              <a:ext cx="208788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O que muda</a:t>
              </a:r>
            </a:p>
          </p:txBody>
        </p:sp>
        <p:sp>
          <p:nvSpPr>
            <p:cNvPr id="954" name="Texto 954"/>
            <p:cNvSpPr txBox="1"/>
            <p:nvPr/>
          </p:nvSpPr>
          <p:spPr>
            <a:xfrm>
              <a:off x="7007352" y="3721608"/>
              <a:ext cx="2087880" cy="150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A especificação vira dado comparável: recomendação, compatibilidade e estoque por classe.</a:t>
              </a:r>
            </a:p>
          </p:txBody>
        </p:sp>
        <p:sp>
          <p:nvSpPr>
            <p:cNvPr id="955" name="Forma 955"/>
            <p:cNvSpPr/>
            <p:nvPr/>
          </p:nvSpPr>
          <p:spPr>
            <a:xfrm>
              <a:off x="9342120" y="2606040"/>
              <a:ext cx="2389632" cy="2697480"/>
            </a:xfrm>
            <a:prstGeom prst="roundRect">
              <a:avLst>
                <a:gd name="adj" fmla="val 4591"/>
              </a:avLst>
            </a:prstGeom>
            <a:solidFill>
              <a:srgbClr val="221639"/>
            </a:solidFill>
            <a:ln w="15875">
              <a:solidFill>
                <a:srgbClr val="FF2E97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orma 956"/>
            <p:cNvSpPr/>
            <p:nvPr/>
          </p:nvSpPr>
          <p:spPr>
            <a:xfrm>
              <a:off x="9506712" y="2788920"/>
              <a:ext cx="475488" cy="475488"/>
            </a:xfrm>
            <a:prstGeom prst="ellipse">
              <a:avLst/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57" name="Ícone BsFla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13697" y="2895905"/>
              <a:ext cx="261518" cy="261518"/>
            </a:xfrm>
            <a:prstGeom prst="rect">
              <a:avLst/>
            </a:prstGeom>
          </p:spPr>
        </p:pic>
        <p:sp>
          <p:nvSpPr>
            <p:cNvPr id="958" name="Texto 958"/>
            <p:cNvSpPr txBox="1"/>
            <p:nvPr/>
          </p:nvSpPr>
          <p:spPr>
            <a:xfrm>
              <a:off x="9506712" y="3383280"/>
              <a:ext cx="208788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Próximos passos</a:t>
              </a:r>
            </a:p>
          </p:txBody>
        </p:sp>
        <p:sp>
          <p:nvSpPr>
            <p:cNvPr id="959" name="Texto 959"/>
            <p:cNvSpPr txBox="1"/>
            <p:nvPr/>
          </p:nvSpPr>
          <p:spPr>
            <a:xfrm>
              <a:off x="9506712" y="3721608"/>
              <a:ext cx="2087880" cy="150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Aprovar o diagrama ER, liberar a Fase 1 do LUMEN Cloud, publicar o site e ativar o Google Meu Negócio.</a:t>
              </a:r>
            </a:p>
          </p:txBody>
        </p:sp>
        <p:sp>
          <p:nvSpPr>
            <p:cNvPr id="960" name="Forma 960"/>
            <p:cNvSpPr/>
            <p:nvPr/>
          </p:nvSpPr>
          <p:spPr>
            <a:xfrm>
              <a:off x="4343400" y="5486400"/>
              <a:ext cx="7388352" cy="502920"/>
            </a:xfrm>
            <a:prstGeom prst="roundRect">
              <a:avLst>
                <a:gd name="adj" fmla="val 49090"/>
              </a:avLst>
            </a:prstGeom>
            <a:noFill/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Obrigado  ·  </a:t>
              </a: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losttech.ofc@gmail.com  ·  @losttechoficial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!!Fatia1" descr="Fatia da roda com ícone de componente de hardware">
            <a:extLst>
              <a:ext uri="{FF2B5EF4-FFF2-40B4-BE49-F238E27FC236}">
                <a16:creationId xmlns:a16="http://schemas.microsoft.com/office/drawing/2014/main" id="{E19B498A-0A51-658E-1577-DC847E0F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6" t="1365" r="37362" b="2095"/>
          <a:stretch/>
        </p:blipFill>
        <p:spPr>
          <a:xfrm rot="17484111">
            <a:off x="955215" y="748785"/>
            <a:ext cx="874912" cy="1869624"/>
          </a:xfrm>
          <a:custGeom>
            <a:avLst/>
            <a:gdLst>
              <a:gd name="connsiteX0" fmla="*/ 595292 w 874912"/>
              <a:gd name="connsiteY0" fmla="*/ 0 h 1869624"/>
              <a:gd name="connsiteX1" fmla="*/ 630050 w 874912"/>
              <a:gd name="connsiteY1" fmla="*/ 0 h 1869624"/>
              <a:gd name="connsiteX2" fmla="*/ 725835 w 874912"/>
              <a:gd name="connsiteY2" fmla="*/ 209211 h 1869624"/>
              <a:gd name="connsiteX3" fmla="*/ 693430 w 874912"/>
              <a:gd name="connsiteY3" fmla="*/ 1869624 h 1869624"/>
              <a:gd name="connsiteX4" fmla="*/ 61342 w 874912"/>
              <a:gd name="connsiteY4" fmla="*/ 1593703 h 1869624"/>
              <a:gd name="connsiteX5" fmla="*/ 87374 w 874912"/>
              <a:gd name="connsiteY5" fmla="*/ 1534048 h 1869624"/>
              <a:gd name="connsiteX6" fmla="*/ 62947 w 874912"/>
              <a:gd name="connsiteY6" fmla="*/ 441931 h 1869624"/>
              <a:gd name="connsiteX7" fmla="*/ 0 w 874912"/>
              <a:gd name="connsiteY7" fmla="*/ 314475 h 186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4912" h="1869624">
                <a:moveTo>
                  <a:pt x="595292" y="0"/>
                </a:moveTo>
                <a:lnTo>
                  <a:pt x="630050" y="0"/>
                </a:lnTo>
                <a:lnTo>
                  <a:pt x="725835" y="209211"/>
                </a:lnTo>
                <a:cubicBezTo>
                  <a:pt x="934100" y="741983"/>
                  <a:pt x="924930" y="1339298"/>
                  <a:pt x="693430" y="1869624"/>
                </a:cubicBezTo>
                <a:lnTo>
                  <a:pt x="61342" y="1593703"/>
                </a:lnTo>
                <a:lnTo>
                  <a:pt x="87374" y="1534048"/>
                </a:lnTo>
                <a:cubicBezTo>
                  <a:pt x="220133" y="1184271"/>
                  <a:pt x="214188" y="790993"/>
                  <a:pt x="62947" y="441931"/>
                </a:cubicBezTo>
                <a:lnTo>
                  <a:pt x="0" y="314475"/>
                </a:lnTo>
                <a:close/>
              </a:path>
            </a:pathLst>
          </a:custGeom>
        </p:spPr>
      </p:pic>
      <p:pic>
        <p:nvPicPr>
          <p:cNvPr id="67" name="!!Fatia2" descr="Fatia da roda com ícone de componente de hardware">
            <a:extLst>
              <a:ext uri="{FF2B5EF4-FFF2-40B4-BE49-F238E27FC236}">
                <a16:creationId xmlns:a16="http://schemas.microsoft.com/office/drawing/2014/main" id="{20D93AF4-EEE2-32FC-2DEA-6F249D82C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5" t="414" r="50149" b="6697"/>
          <a:stretch/>
        </p:blipFill>
        <p:spPr>
          <a:xfrm rot="20688483">
            <a:off x="2516120" y="1221269"/>
            <a:ext cx="1240585" cy="2633151"/>
          </a:xfrm>
          <a:custGeom>
            <a:avLst/>
            <a:gdLst>
              <a:gd name="connsiteX0" fmla="*/ 598352 w 886132"/>
              <a:gd name="connsiteY0" fmla="*/ 0 h 1880822"/>
              <a:gd name="connsiteX1" fmla="*/ 733462 w 886132"/>
              <a:gd name="connsiteY1" fmla="*/ 1880822 h 1880822"/>
              <a:gd name="connsiteX2" fmla="*/ 83309 w 886132"/>
              <a:gd name="connsiteY2" fmla="*/ 1623344 h 1880822"/>
              <a:gd name="connsiteX3" fmla="*/ 118493 w 886132"/>
              <a:gd name="connsiteY3" fmla="*/ 1534532 h 1880822"/>
              <a:gd name="connsiteX4" fmla="*/ 191706 w 886132"/>
              <a:gd name="connsiteY4" fmla="*/ 963376 h 1880822"/>
              <a:gd name="connsiteX5" fmla="*/ 37593 w 886132"/>
              <a:gd name="connsiteY5" fmla="*/ 408553 h 1880822"/>
              <a:gd name="connsiteX6" fmla="*/ 0 w 886132"/>
              <a:gd name="connsiteY6" fmla="*/ 342991 h 188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6132" h="1880822">
                <a:moveTo>
                  <a:pt x="598352" y="0"/>
                </a:moveTo>
                <a:cubicBezTo>
                  <a:pt x="927225" y="573724"/>
                  <a:pt x="976953" y="1265981"/>
                  <a:pt x="733462" y="1880822"/>
                </a:cubicBezTo>
                <a:lnTo>
                  <a:pt x="83309" y="1623344"/>
                </a:lnTo>
                <a:lnTo>
                  <a:pt x="118493" y="1534532"/>
                </a:lnTo>
                <a:cubicBezTo>
                  <a:pt x="179250" y="1356233"/>
                  <a:pt x="206054" y="1163077"/>
                  <a:pt x="191706" y="963376"/>
                </a:cubicBezTo>
                <a:cubicBezTo>
                  <a:pt x="177358" y="763675"/>
                  <a:pt x="123216" y="576334"/>
                  <a:pt x="37593" y="408553"/>
                </a:cubicBezTo>
                <a:lnTo>
                  <a:pt x="0" y="342991"/>
                </a:lnTo>
                <a:close/>
              </a:path>
            </a:pathLst>
          </a:custGeom>
        </p:spPr>
      </p:pic>
      <p:pic>
        <p:nvPicPr>
          <p:cNvPr id="64" name="!!Fatia3" descr="Fatia da roda com ícone de componente de hardware">
            <a:extLst>
              <a:ext uri="{FF2B5EF4-FFF2-40B4-BE49-F238E27FC236}">
                <a16:creationId xmlns:a16="http://schemas.microsoft.com/office/drawing/2014/main" id="{C33FB91B-4B24-DE70-66CA-9F008A927C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4" t="-17" r="5530" b="580"/>
          <a:stretch/>
        </p:blipFill>
        <p:spPr>
          <a:xfrm rot="2300062">
            <a:off x="1876561" y="3405180"/>
            <a:ext cx="922163" cy="1874659"/>
          </a:xfrm>
          <a:custGeom>
            <a:avLst/>
            <a:gdLst>
              <a:gd name="connsiteX0" fmla="*/ 593530 w 922163"/>
              <a:gd name="connsiteY0" fmla="*/ 0 h 1874659"/>
              <a:gd name="connsiteX1" fmla="*/ 797423 w 922163"/>
              <a:gd name="connsiteY1" fmla="*/ 1874659 h 1874659"/>
              <a:gd name="connsiteX2" fmla="*/ 112453 w 922163"/>
              <a:gd name="connsiteY2" fmla="*/ 1632004 h 1874659"/>
              <a:gd name="connsiteX3" fmla="*/ 113897 w 922163"/>
              <a:gd name="connsiteY3" fmla="*/ 1628715 h 1874659"/>
              <a:gd name="connsiteX4" fmla="*/ 23880 w 922163"/>
              <a:gd name="connsiteY4" fmla="*/ 408092 h 1874659"/>
              <a:gd name="connsiteX5" fmla="*/ 0 w 922163"/>
              <a:gd name="connsiteY5" fmla="*/ 369749 h 187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163" h="1874659">
                <a:moveTo>
                  <a:pt x="593530" y="0"/>
                </a:moveTo>
                <a:cubicBezTo>
                  <a:pt x="943206" y="561308"/>
                  <a:pt x="1018253" y="1251301"/>
                  <a:pt x="797423" y="1874659"/>
                </a:cubicBezTo>
                <a:lnTo>
                  <a:pt x="112453" y="1632004"/>
                </a:lnTo>
                <a:lnTo>
                  <a:pt x="113897" y="1628715"/>
                </a:lnTo>
                <a:cubicBezTo>
                  <a:pt x="267863" y="1223381"/>
                  <a:pt x="228725" y="775771"/>
                  <a:pt x="23880" y="408092"/>
                </a:cubicBezTo>
                <a:lnTo>
                  <a:pt x="0" y="369749"/>
                </a:lnTo>
                <a:close/>
              </a:path>
            </a:pathLst>
          </a:custGeom>
        </p:spPr>
      </p:pic>
      <p:pic>
        <p:nvPicPr>
          <p:cNvPr id="62" name="!!Fatia4" descr="Fatia da roda com ícone de componente de hardware">
            <a:extLst>
              <a:ext uri="{FF2B5EF4-FFF2-40B4-BE49-F238E27FC236}">
                <a16:creationId xmlns:a16="http://schemas.microsoft.com/office/drawing/2014/main" id="{C2D29F31-4C87-03A9-71FE-2C6BD5C8FC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07" t="1871" r="21821" b="1016"/>
          <a:stretch/>
        </p:blipFill>
        <p:spPr>
          <a:xfrm rot="5569555">
            <a:off x="536694" y="4234200"/>
            <a:ext cx="988046" cy="1861085"/>
          </a:xfrm>
          <a:custGeom>
            <a:avLst/>
            <a:gdLst>
              <a:gd name="connsiteX0" fmla="*/ 595376 w 988046"/>
              <a:gd name="connsiteY0" fmla="*/ 0 h 1861085"/>
              <a:gd name="connsiteX1" fmla="*/ 899148 w 988046"/>
              <a:gd name="connsiteY1" fmla="*/ 1861085 h 1861085"/>
              <a:gd name="connsiteX2" fmla="*/ 177353 w 988046"/>
              <a:gd name="connsiteY2" fmla="*/ 1648046 h 1861085"/>
              <a:gd name="connsiteX3" fmla="*/ 211504 w 988046"/>
              <a:gd name="connsiteY3" fmla="*/ 1517512 h 1861085"/>
              <a:gd name="connsiteX4" fmla="*/ 135531 w 988046"/>
              <a:gd name="connsiteY4" fmla="*/ 673183 h 1861085"/>
              <a:gd name="connsiteX5" fmla="*/ 72749 w 988046"/>
              <a:gd name="connsiteY5" fmla="*/ 538659 h 1861085"/>
              <a:gd name="connsiteX6" fmla="*/ 0 w 988046"/>
              <a:gd name="connsiteY6" fmla="*/ 416647 h 18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8046" h="1861085">
                <a:moveTo>
                  <a:pt x="595376" y="0"/>
                </a:moveTo>
                <a:cubicBezTo>
                  <a:pt x="974545" y="541822"/>
                  <a:pt x="1086352" y="1226818"/>
                  <a:pt x="899148" y="1861085"/>
                </a:cubicBezTo>
                <a:lnTo>
                  <a:pt x="177353" y="1648046"/>
                </a:lnTo>
                <a:lnTo>
                  <a:pt x="211504" y="1517512"/>
                </a:lnTo>
                <a:cubicBezTo>
                  <a:pt x="269169" y="1244228"/>
                  <a:pt x="248652" y="951387"/>
                  <a:pt x="135531" y="673183"/>
                </a:cubicBezTo>
                <a:cubicBezTo>
                  <a:pt x="116677" y="626816"/>
                  <a:pt x="95697" y="581952"/>
                  <a:pt x="72749" y="538659"/>
                </a:cubicBezTo>
                <a:lnTo>
                  <a:pt x="0" y="416647"/>
                </a:lnTo>
                <a:close/>
              </a:path>
            </a:pathLst>
          </a:custGeom>
        </p:spPr>
      </p:pic>
      <p:pic>
        <p:nvPicPr>
          <p:cNvPr id="60" name="!!Fatia5" descr="Fatia da roda com ícone de componente de hardware">
            <a:extLst>
              <a:ext uri="{FF2B5EF4-FFF2-40B4-BE49-F238E27FC236}">
                <a16:creationId xmlns:a16="http://schemas.microsoft.com/office/drawing/2014/main" id="{B23F3F2C-6AC6-7F08-F555-237358F141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83" t="-260" r="11317" b="1607"/>
          <a:stretch/>
        </p:blipFill>
        <p:spPr>
          <a:xfrm rot="8785390">
            <a:off x="-952631" y="3785788"/>
            <a:ext cx="1040921" cy="1848259"/>
          </a:xfrm>
          <a:custGeom>
            <a:avLst/>
            <a:gdLst>
              <a:gd name="connsiteX0" fmla="*/ 599821 w 1040921"/>
              <a:gd name="connsiteY0" fmla="*/ 0 h 1848259"/>
              <a:gd name="connsiteX1" fmla="*/ 973804 w 1040921"/>
              <a:gd name="connsiteY1" fmla="*/ 1848259 h 1848259"/>
              <a:gd name="connsiteX2" fmla="*/ 240479 w 1040921"/>
              <a:gd name="connsiteY2" fmla="*/ 1661673 h 1848259"/>
              <a:gd name="connsiteX3" fmla="*/ 267599 w 1040921"/>
              <a:gd name="connsiteY3" fmla="*/ 1526991 h 1848259"/>
              <a:gd name="connsiteX4" fmla="*/ 2807 w 1040921"/>
              <a:gd name="connsiteY4" fmla="*/ 457991 h 1848259"/>
              <a:gd name="connsiteX5" fmla="*/ 0 w 1040921"/>
              <a:gd name="connsiteY5" fmla="*/ 454517 h 184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0921" h="1848259">
                <a:moveTo>
                  <a:pt x="599821" y="0"/>
                </a:moveTo>
                <a:cubicBezTo>
                  <a:pt x="999223" y="527084"/>
                  <a:pt x="1136873" y="1207361"/>
                  <a:pt x="973804" y="1848259"/>
                </a:cubicBezTo>
                <a:lnTo>
                  <a:pt x="240479" y="1661673"/>
                </a:lnTo>
                <a:lnTo>
                  <a:pt x="267599" y="1526991"/>
                </a:lnTo>
                <a:cubicBezTo>
                  <a:pt x="325379" y="1139284"/>
                  <a:pt x="222135" y="757746"/>
                  <a:pt x="2807" y="457991"/>
                </a:cubicBezTo>
                <a:lnTo>
                  <a:pt x="0" y="454517"/>
                </a:lnTo>
                <a:close/>
              </a:path>
            </a:pathLst>
          </a:custGeom>
        </p:spPr>
      </p:pic>
      <p:pic>
        <p:nvPicPr>
          <p:cNvPr id="58" name="!!Fatia6" descr="Fatia da roda com ícone de componente de hardware">
            <a:extLst>
              <a:ext uri="{FF2B5EF4-FFF2-40B4-BE49-F238E27FC236}">
                <a16:creationId xmlns:a16="http://schemas.microsoft.com/office/drawing/2014/main" id="{876C54CC-B2BE-7B4B-05AB-4586C08D72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7" t="519" r="14347" b="-1264"/>
          <a:stretch/>
        </p:blipFill>
        <p:spPr>
          <a:xfrm rot="11368882">
            <a:off x="-1464078" y="2277394"/>
            <a:ext cx="931683" cy="1883012"/>
          </a:xfrm>
          <a:custGeom>
            <a:avLst/>
            <a:gdLst>
              <a:gd name="connsiteX0" fmla="*/ 663201 w 931683"/>
              <a:gd name="connsiteY0" fmla="*/ 0 h 1883012"/>
              <a:gd name="connsiteX1" fmla="*/ 764145 w 931683"/>
              <a:gd name="connsiteY1" fmla="*/ 1883012 h 1883012"/>
              <a:gd name="connsiteX2" fmla="*/ 85112 w 931683"/>
              <a:gd name="connsiteY2" fmla="*/ 1599722 h 1883012"/>
              <a:gd name="connsiteX3" fmla="*/ 127270 w 931683"/>
              <a:gd name="connsiteY3" fmla="*/ 1476942 h 1883012"/>
              <a:gd name="connsiteX4" fmla="*/ 5811 w 931683"/>
              <a:gd name="connsiteY4" fmla="*/ 373757 h 1883012"/>
              <a:gd name="connsiteX5" fmla="*/ 0 w 931683"/>
              <a:gd name="connsiteY5" fmla="*/ 364339 h 188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1683" h="1883012">
                <a:moveTo>
                  <a:pt x="663201" y="0"/>
                </a:moveTo>
                <a:cubicBezTo>
                  <a:pt x="981620" y="579612"/>
                  <a:pt x="1018774" y="1272680"/>
                  <a:pt x="764145" y="1883012"/>
                </a:cubicBezTo>
                <a:lnTo>
                  <a:pt x="85112" y="1599722"/>
                </a:lnTo>
                <a:lnTo>
                  <a:pt x="127270" y="1476942"/>
                </a:lnTo>
                <a:cubicBezTo>
                  <a:pt x="230914" y="1120599"/>
                  <a:pt x="198616" y="724715"/>
                  <a:pt x="5811" y="373757"/>
                </a:cubicBezTo>
                <a:lnTo>
                  <a:pt x="0" y="364339"/>
                </a:lnTo>
                <a:close/>
              </a:path>
            </a:pathLst>
          </a:custGeom>
        </p:spPr>
      </p:pic>
      <p:pic>
        <p:nvPicPr>
          <p:cNvPr id="56" name="!!Fatia7" descr="Fatia da roda com ícone de componente de hardware">
            <a:extLst>
              <a:ext uri="{FF2B5EF4-FFF2-40B4-BE49-F238E27FC236}">
                <a16:creationId xmlns:a16="http://schemas.microsoft.com/office/drawing/2014/main" id="{07A7A811-451E-1408-E59A-3FE9513A9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r="33298" b="6961"/>
          <a:stretch/>
        </p:blipFill>
        <p:spPr>
          <a:xfrm rot="15041911">
            <a:off x="-733768" y="994055"/>
            <a:ext cx="1049351" cy="1838435"/>
          </a:xfrm>
          <a:custGeom>
            <a:avLst/>
            <a:gdLst>
              <a:gd name="connsiteX0" fmla="*/ 575238 w 1049351"/>
              <a:gd name="connsiteY0" fmla="*/ 0 h 1838435"/>
              <a:gd name="connsiteX1" fmla="*/ 994849 w 1049351"/>
              <a:gd name="connsiteY1" fmla="*/ 1838435 h 1838435"/>
              <a:gd name="connsiteX2" fmla="*/ 307617 w 1049351"/>
              <a:gd name="connsiteY2" fmla="*/ 1681579 h 1838435"/>
              <a:gd name="connsiteX3" fmla="*/ 307950 w 1049351"/>
              <a:gd name="connsiteY3" fmla="*/ 1680284 h 1838435"/>
              <a:gd name="connsiteX4" fmla="*/ 337410 w 1049351"/>
              <a:gd name="connsiteY4" fmla="*/ 1388040 h 1838435"/>
              <a:gd name="connsiteX5" fmla="*/ 6280 w 1049351"/>
              <a:gd name="connsiteY5" fmla="*/ 465647 h 1838435"/>
              <a:gd name="connsiteX6" fmla="*/ 0 w 1049351"/>
              <a:gd name="connsiteY6" fmla="*/ 458737 h 183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351" h="1838435">
                <a:moveTo>
                  <a:pt x="575238" y="0"/>
                </a:moveTo>
                <a:cubicBezTo>
                  <a:pt x="987563" y="517039"/>
                  <a:pt x="1142005" y="1193699"/>
                  <a:pt x="994849" y="1838435"/>
                </a:cubicBezTo>
                <a:lnTo>
                  <a:pt x="307617" y="1681579"/>
                </a:lnTo>
                <a:lnTo>
                  <a:pt x="307950" y="1680284"/>
                </a:lnTo>
                <a:cubicBezTo>
                  <a:pt x="327266" y="1585887"/>
                  <a:pt x="337410" y="1488148"/>
                  <a:pt x="337410" y="1388040"/>
                </a:cubicBezTo>
                <a:cubicBezTo>
                  <a:pt x="337410" y="1037662"/>
                  <a:pt x="213145" y="716308"/>
                  <a:pt x="6280" y="465647"/>
                </a:cubicBezTo>
                <a:lnTo>
                  <a:pt x="0" y="458737"/>
                </a:lnTo>
                <a:close/>
              </a:path>
            </a:pathLst>
          </a:cu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66604F-BAD7-2CDA-AFAB-13A8012B936C}"/>
              </a:ext>
            </a:extLst>
          </p:cNvPr>
          <p:cNvSpPr txBox="1"/>
          <p:nvPr/>
        </p:nvSpPr>
        <p:spPr>
          <a:xfrm>
            <a:off x="-35412" y="3213483"/>
            <a:ext cx="2202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5F0FF"/>
                </a:solidFill>
                <a:latin typeface="Montserrat"/>
                <a:cs typeface="Montserrat"/>
              </a:rPr>
              <a:t>LOSTECH</a:t>
            </a:r>
          </a:p>
          <a:p>
            <a:pPr algn="ctr"/>
            <a:endParaRPr lang="pt-BR" sz="3200" b="1" dirty="0">
              <a:solidFill>
                <a:srgbClr val="F5F0FF"/>
              </a:solidFill>
              <a:latin typeface="Montserrat"/>
              <a:cs typeface="Montserrat"/>
            </a:endParaRPr>
          </a:p>
        </p:txBody>
      </p:sp>
      <p:sp>
        <p:nvSpPr>
          <p:cNvPr id="901" name="!!Titulo"/>
          <p:cNvSpPr txBox="1"/>
          <p:nvPr/>
        </p:nvSpPr>
        <p:spPr>
          <a:xfrm>
            <a:off x="4343400" y="347472"/>
            <a:ext cx="7388352" cy="1207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5F0FF"/>
                </a:solidFill>
                <a:latin typeface="Montserrat"/>
                <a:cs typeface="Montserrat"/>
              </a:rPr>
              <a:t>CONCLUSÃO</a:t>
            </a:r>
          </a:p>
        </p:txBody>
      </p:sp>
      <p:sp>
        <p:nvSpPr>
          <p:cNvPr id="902" name="!!Texto"/>
          <p:cNvSpPr txBox="1"/>
          <p:nvPr/>
        </p:nvSpPr>
        <p:spPr>
          <a:xfrm>
            <a:off x="4343400" y="1645920"/>
            <a:ext cx="7022592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BDB0D6"/>
                </a:solidFill>
                <a:latin typeface="Montserrat"/>
                <a:cs typeface="Montserrat"/>
              </a:rPr>
              <a:t>O núcleo funciona; o catálogo relacional é o que permite recomendar e prever estoque.</a:t>
            </a:r>
          </a:p>
        </p:txBody>
      </p:sp>
      <p:grpSp>
        <p:nvGrpSpPr>
          <p:cNvPr id="919" name="!!Faixa7"/>
          <p:cNvGrpSpPr/>
          <p:nvPr/>
        </p:nvGrpSpPr>
        <p:grpSpPr>
          <a:xfrm>
            <a:off x="4343400" y="2606040"/>
            <a:ext cx="7388352" cy="3383280"/>
            <a:chOff x="4343400" y="2606040"/>
            <a:chExt cx="7388352" cy="3383280"/>
          </a:xfrm>
        </p:grpSpPr>
        <p:sp>
          <p:nvSpPr>
            <p:cNvPr id="903" name="Forma 903"/>
            <p:cNvSpPr/>
            <p:nvPr/>
          </p:nvSpPr>
          <p:spPr>
            <a:xfrm>
              <a:off x="4343400" y="2606040"/>
              <a:ext cx="2389632" cy="269748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orma 904"/>
            <p:cNvSpPr/>
            <p:nvPr/>
          </p:nvSpPr>
          <p:spPr>
            <a:xfrm>
              <a:off x="4507992" y="2788920"/>
              <a:ext cx="475488" cy="475488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05" name="Ícone BsBoxSeam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14977" y="2895905"/>
              <a:ext cx="261518" cy="261518"/>
            </a:xfrm>
            <a:prstGeom prst="rect">
              <a:avLst/>
            </a:prstGeom>
          </p:spPr>
        </p:pic>
        <p:sp>
          <p:nvSpPr>
            <p:cNvPr id="906" name="Texto 906"/>
            <p:cNvSpPr txBox="1"/>
            <p:nvPr/>
          </p:nvSpPr>
          <p:spPr>
            <a:xfrm>
              <a:off x="4507992" y="3383280"/>
              <a:ext cx="208788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O que já temos</a:t>
              </a:r>
            </a:p>
          </p:txBody>
        </p:sp>
        <p:sp>
          <p:nvSpPr>
            <p:cNvPr id="907" name="Texto 907"/>
            <p:cNvSpPr txBox="1"/>
            <p:nvPr/>
          </p:nvSpPr>
          <p:spPr>
            <a:xfrm>
              <a:off x="4507992" y="3721608"/>
              <a:ext cx="2087880" cy="150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Núcleo do LUMEN funcionando, riscos críticos contidos, requisitos do catálogo e BPMN definidos.</a:t>
              </a:r>
            </a:p>
          </p:txBody>
        </p:sp>
        <p:sp>
          <p:nvSpPr>
            <p:cNvPr id="908" name="Forma 908"/>
            <p:cNvSpPr/>
            <p:nvPr/>
          </p:nvSpPr>
          <p:spPr>
            <a:xfrm>
              <a:off x="6842760" y="2606040"/>
              <a:ext cx="2389632" cy="2697480"/>
            </a:xfrm>
            <a:prstGeom prst="roundRect">
              <a:avLst>
                <a:gd name="adj" fmla="val 4591"/>
              </a:avLst>
            </a:prstGeom>
            <a:solidFill>
              <a:srgbClr val="17102A"/>
            </a:solidFill>
            <a:ln w="12700">
              <a:solidFill>
                <a:srgbClr val="3A2A5C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orma 909"/>
            <p:cNvSpPr/>
            <p:nvPr/>
          </p:nvSpPr>
          <p:spPr>
            <a:xfrm>
              <a:off x="7007352" y="2788920"/>
              <a:ext cx="475488" cy="475488"/>
            </a:xfrm>
            <a:prstGeom prst="ellipse">
              <a:avLst/>
            </a:prstGeom>
            <a:solidFill>
              <a:srgbClr val="A259FF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Ícone BsArrowRepeat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14337" y="2895905"/>
              <a:ext cx="261518" cy="261518"/>
            </a:xfrm>
            <a:prstGeom prst="rect">
              <a:avLst/>
            </a:prstGeom>
          </p:spPr>
        </p:pic>
        <p:sp>
          <p:nvSpPr>
            <p:cNvPr id="911" name="Texto 911"/>
            <p:cNvSpPr txBox="1"/>
            <p:nvPr/>
          </p:nvSpPr>
          <p:spPr>
            <a:xfrm>
              <a:off x="7007352" y="3383280"/>
              <a:ext cx="208788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O que muda</a:t>
              </a:r>
            </a:p>
          </p:txBody>
        </p:sp>
        <p:sp>
          <p:nvSpPr>
            <p:cNvPr id="912" name="Texto 912"/>
            <p:cNvSpPr txBox="1"/>
            <p:nvPr/>
          </p:nvSpPr>
          <p:spPr>
            <a:xfrm>
              <a:off x="7007352" y="3721608"/>
              <a:ext cx="2087880" cy="150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A especificação vira dado comparável: recomendação, compatibilidade e estoque por classe.</a:t>
              </a:r>
            </a:p>
          </p:txBody>
        </p:sp>
        <p:sp>
          <p:nvSpPr>
            <p:cNvPr id="913" name="Forma 913"/>
            <p:cNvSpPr/>
            <p:nvPr/>
          </p:nvSpPr>
          <p:spPr>
            <a:xfrm>
              <a:off x="9342120" y="2606040"/>
              <a:ext cx="2389632" cy="2697480"/>
            </a:xfrm>
            <a:prstGeom prst="roundRect">
              <a:avLst>
                <a:gd name="adj" fmla="val 4591"/>
              </a:avLst>
            </a:prstGeom>
            <a:solidFill>
              <a:srgbClr val="221639"/>
            </a:solidFill>
            <a:ln w="15875">
              <a:solidFill>
                <a:srgbClr val="FF2E97"/>
              </a:solidFill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orma 914"/>
            <p:cNvSpPr/>
            <p:nvPr/>
          </p:nvSpPr>
          <p:spPr>
            <a:xfrm>
              <a:off x="9506712" y="2788920"/>
              <a:ext cx="475488" cy="475488"/>
            </a:xfrm>
            <a:prstGeom prst="ellipse">
              <a:avLst/>
            </a:prstGeom>
            <a:solidFill>
              <a:srgbClr val="FF2E97"/>
            </a:solidFill>
            <a:ln>
              <a:noFill/>
            </a:ln>
          </p:spPr>
          <p:txBody>
            <a:bodyPr wrap="square" lIns="137160" tIns="137160" rIns="137160" bIns="13716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5" name="Ícone BsFla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13697" y="2895905"/>
              <a:ext cx="261518" cy="261518"/>
            </a:xfrm>
            <a:prstGeom prst="rect">
              <a:avLst/>
            </a:prstGeom>
          </p:spPr>
        </p:pic>
        <p:sp>
          <p:nvSpPr>
            <p:cNvPr id="916" name="Texto 916"/>
            <p:cNvSpPr txBox="1"/>
            <p:nvPr/>
          </p:nvSpPr>
          <p:spPr>
            <a:xfrm>
              <a:off x="9506712" y="3383280"/>
              <a:ext cx="208788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F5F0FF"/>
                  </a:solidFill>
                  <a:latin typeface="Montserrat"/>
                  <a:cs typeface="Montserrat"/>
                </a:rPr>
                <a:t>Próximos passos</a:t>
              </a:r>
            </a:p>
          </p:txBody>
        </p:sp>
        <p:sp>
          <p:nvSpPr>
            <p:cNvPr id="917" name="Texto 917"/>
            <p:cNvSpPr txBox="1"/>
            <p:nvPr/>
          </p:nvSpPr>
          <p:spPr>
            <a:xfrm>
              <a:off x="9506712" y="3721608"/>
              <a:ext cx="2087880" cy="150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Aprovar o diagrama ER, liberar a Fase 1 do LUMEN Cloud, publicar o site e ativar o Google Meu Negócio.</a:t>
              </a:r>
            </a:p>
          </p:txBody>
        </p:sp>
        <p:sp>
          <p:nvSpPr>
            <p:cNvPr id="918" name="Forma 918"/>
            <p:cNvSpPr/>
            <p:nvPr/>
          </p:nvSpPr>
          <p:spPr>
            <a:xfrm>
              <a:off x="4343400" y="5486400"/>
              <a:ext cx="7388352" cy="502920"/>
            </a:xfrm>
            <a:prstGeom prst="roundRect">
              <a:avLst>
                <a:gd name="adj" fmla="val 49090"/>
              </a:avLst>
            </a:prstGeom>
            <a:noFill/>
            <a:ln w="12700">
              <a:solidFill>
                <a:srgbClr val="A259FF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F5F0FF"/>
                  </a:solidFill>
                  <a:latin typeface="Montserrat"/>
                  <a:cs typeface="Montserrat"/>
                </a:rPr>
                <a:t>Obrigado  ·  </a:t>
              </a:r>
              <a:r>
                <a:rPr lang="pt-BR" sz="1200" dirty="0">
                  <a:solidFill>
                    <a:srgbClr val="BDB0D6"/>
                  </a:solidFill>
                  <a:latin typeface="Montserrat"/>
                  <a:cs typeface="Montserrat"/>
                </a:rPr>
                <a:t>losttech.ofc@gmail.com  ·  @losttechoficial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47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1082</Words>
  <Application>Microsoft Office PowerPoint</Application>
  <PresentationFormat>Widescreen</PresentationFormat>
  <Paragraphs>253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belkacem belhadj chikh</dc:creator>
  <cp:lastModifiedBy>Gabriel Ribeiro Silva</cp:lastModifiedBy>
  <cp:revision>7</cp:revision>
  <dcterms:created xsi:type="dcterms:W3CDTF">2023-06-09T15:59:26Z</dcterms:created>
  <dcterms:modified xsi:type="dcterms:W3CDTF">2026-10-22T04:32:19Z</dcterms:modified>
</cp:coreProperties>
</file>